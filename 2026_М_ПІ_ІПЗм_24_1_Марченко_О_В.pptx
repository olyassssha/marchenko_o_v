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8" r:id="rId3"/>
    <p:sldId id="258" r:id="rId4"/>
    <p:sldId id="259" r:id="rId5"/>
    <p:sldId id="261" r:id="rId6"/>
    <p:sldId id="274" r:id="rId7"/>
    <p:sldId id="260" r:id="rId8"/>
    <p:sldId id="265" r:id="rId9"/>
    <p:sldId id="263" r:id="rId10"/>
    <p:sldId id="280" r:id="rId11"/>
    <p:sldId id="284" r:id="rId12"/>
    <p:sldId id="283" r:id="rId13"/>
    <p:sldId id="267" r:id="rId14"/>
    <p:sldId id="266" r:id="rId15"/>
  </p:sldIdLst>
  <p:sldSz cx="9144000" cy="5143500" type="screen16x9"/>
  <p:notesSz cx="6858000" cy="9144000"/>
  <p:embeddedFontLst>
    <p:embeddedFont>
      <p:font typeface="Economica" panose="02000506040000020004" pitchFamily="2" charset="77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921"/>
  </p:normalViewPr>
  <p:slideViewPr>
    <p:cSldViewPr snapToGrid="0">
      <p:cViewPr varScale="1">
        <p:scale>
          <a:sx n="162" d="100"/>
          <a:sy n="162" d="100"/>
        </p:scale>
        <p:origin x="200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424CF868-372F-B77D-9C8B-020E0B89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>
            <a:extLst>
              <a:ext uri="{FF2B5EF4-FFF2-40B4-BE49-F238E27FC236}">
                <a16:creationId xmlns:a16="http://schemas.microsoft.com/office/drawing/2014/main" id="{92F6E684-0F20-B09A-47D6-7109B58DD2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>
            <a:extLst>
              <a:ext uri="{FF2B5EF4-FFF2-40B4-BE49-F238E27FC236}">
                <a16:creationId xmlns:a16="http://schemas.microsoft.com/office/drawing/2014/main" id="{B3297582-EB15-1B32-CDD9-5EA701E5B2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4940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35A9657-52E7-F458-4CD6-CE694C9B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2739A449-CD4A-6ABD-5BDF-99CF377FBB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749CE0A6-FD0B-9AE5-A9F6-1D6160AB2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3490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08947A12-1241-B1BE-0DDB-4A5DBCC6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728E7709-D35D-FD96-08C0-73AEB3599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C7F1E51B-C86F-BEFA-1F63-2F7B55677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294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324E520B-3970-F2DC-98C5-A8BC22FEF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22D6843C-8629-C50E-748F-24121071B0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996F318B-34D1-7466-6696-E1C592048C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0281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A0AD3E0-BFEB-8D95-53BA-3D17A15BA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B803C96F-990F-F25B-96FC-4A8E75FF63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879BD702-A99E-37A4-D7FC-84FF69A32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618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49" y="821300"/>
            <a:ext cx="3684997" cy="22529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 dirty="0"/>
              <a:t>Дослідження </a:t>
            </a:r>
            <a:r>
              <a:rPr lang="en-US" sz="2800" dirty="0" err="1"/>
              <a:t>моделей</a:t>
            </a:r>
            <a:r>
              <a:rPr lang="en-US" sz="2800" dirty="0"/>
              <a:t> </a:t>
            </a:r>
            <a:r>
              <a:rPr lang="en-US" sz="2800" dirty="0" err="1"/>
              <a:t>і</a:t>
            </a:r>
            <a:r>
              <a:rPr lang="en-US" sz="2800" dirty="0"/>
              <a:t> </a:t>
            </a:r>
            <a:r>
              <a:rPr lang="en-US" sz="2800" dirty="0" err="1"/>
              <a:t>методів</a:t>
            </a:r>
            <a:r>
              <a:rPr lang="en-US" sz="2800" dirty="0"/>
              <a:t> </a:t>
            </a:r>
            <a:r>
              <a:rPr lang="en-US" sz="2800" dirty="0" err="1"/>
              <a:t>збільшення</a:t>
            </a:r>
            <a:r>
              <a:rPr lang="en-US" sz="2800" dirty="0"/>
              <a:t> </a:t>
            </a:r>
            <a:r>
              <a:rPr lang="en-US" sz="2800" dirty="0" err="1"/>
              <a:t>роздільної</a:t>
            </a:r>
            <a:r>
              <a:rPr lang="en-US" sz="2800" dirty="0"/>
              <a:t> </a:t>
            </a:r>
            <a:r>
              <a:rPr lang="en-US" sz="2800" dirty="0" err="1"/>
              <a:t>здатності</a:t>
            </a:r>
            <a:r>
              <a:rPr lang="en-US" sz="2800" dirty="0"/>
              <a:t> </a:t>
            </a:r>
            <a:r>
              <a:rPr lang="en-US" sz="2800" dirty="0" err="1"/>
              <a:t>зображень</a:t>
            </a:r>
            <a:endParaRPr lang="en-US" sz="28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822744" y="3593150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/>
            <a:r>
              <a:rPr lang="en-US" dirty="0"/>
              <a:t>Марченко </a:t>
            </a:r>
            <a:r>
              <a:rPr lang="en-US" dirty="0" err="1"/>
              <a:t>О</a:t>
            </a:r>
            <a:r>
              <a:rPr lang="en-US" dirty="0"/>
              <a:t>. </a:t>
            </a:r>
            <a:r>
              <a:rPr lang="en-US" dirty="0" err="1"/>
              <a:t>В</a:t>
            </a:r>
            <a:r>
              <a:rPr lang="en-US" dirty="0"/>
              <a:t>., </a:t>
            </a:r>
            <a:r>
              <a:rPr lang="en-US" dirty="0" err="1"/>
              <a:t>група</a:t>
            </a:r>
            <a:r>
              <a:rPr lang="en-US" dirty="0"/>
              <a:t> ІПЗм-24-1 </a:t>
            </a:r>
            <a:br>
              <a:rPr lang="uk-UA" dirty="0"/>
            </a:br>
            <a:r>
              <a:rPr lang="en-US" dirty="0" err="1"/>
              <a:t>проф</a:t>
            </a:r>
            <a:r>
              <a:rPr lang="en-US" dirty="0"/>
              <a:t>. </a:t>
            </a:r>
            <a:r>
              <a:rPr lang="en-US" dirty="0" err="1"/>
              <a:t>Смеляков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. </a:t>
            </a:r>
            <a:r>
              <a:rPr lang="en-US" dirty="0" err="1"/>
              <a:t>В</a:t>
            </a:r>
            <a:r>
              <a:rPr lang="en-US" dirty="0"/>
              <a:t>. </a:t>
            </a:r>
            <a:br>
              <a:rPr lang="uk-UA" dirty="0"/>
            </a:br>
            <a:r>
              <a:rPr lang="uk" dirty="0"/>
              <a:t>25 </a:t>
            </a:r>
            <a:r>
              <a:rPr lang="uk-UA" dirty="0"/>
              <a:t>травня</a:t>
            </a:r>
            <a:r>
              <a:rPr lang="uk" dirty="0"/>
              <a:t>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B954106B-8ECD-B730-7693-B3A6CDE82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B8EBB503-6B93-AD59-C8D6-028DDC4FE3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Актуальність</a:t>
            </a:r>
            <a:endParaRPr sz="3200" dirty="0"/>
          </a:p>
        </p:txBody>
      </p:sp>
      <p:pic>
        <p:nvPicPr>
          <p:cNvPr id="73" name="Google Shape;73;p14">
            <a:extLst>
              <a:ext uri="{FF2B5EF4-FFF2-40B4-BE49-F238E27FC236}">
                <a16:creationId xmlns:a16="http://schemas.microsoft.com/office/drawing/2014/main" id="{AA7DEE60-22EC-DFAF-0168-5F709C5ACD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E1AB3B-4515-9B35-64E8-F48B3CCBEDC0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73D91-5F46-30E2-E357-91DBC0790B53}"/>
              </a:ext>
            </a:extLst>
          </p:cNvPr>
          <p:cNvSpPr txBox="1"/>
          <p:nvPr/>
        </p:nvSpPr>
        <p:spPr>
          <a:xfrm>
            <a:off x="176812" y="958089"/>
            <a:ext cx="35431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Медицина</a:t>
            </a:r>
            <a:r>
              <a:rPr lang="en-US" dirty="0"/>
              <a:t> SR </a:t>
            </a:r>
            <a:r>
              <a:rPr lang="en-US" dirty="0" err="1"/>
              <a:t>виявляє</a:t>
            </a:r>
            <a:r>
              <a:rPr lang="en-US" dirty="0"/>
              <a:t> </a:t>
            </a:r>
            <a:r>
              <a:rPr lang="en-US" dirty="0" err="1"/>
              <a:t>пухлини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1 </a:t>
            </a:r>
            <a:r>
              <a:rPr lang="en-US" dirty="0" err="1"/>
              <a:t>мм</a:t>
            </a:r>
            <a:r>
              <a:rPr lang="en-US" dirty="0"/>
              <a:t> </a:t>
            </a:r>
            <a:r>
              <a:rPr lang="en-US" dirty="0" err="1"/>
              <a:t>невидимі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стандартному</a:t>
            </a:r>
            <a:r>
              <a:rPr lang="en-US" dirty="0"/>
              <a:t> МРТ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EA5128-9B4F-4AD3-6AD0-CFCDF74228C7}"/>
              </a:ext>
            </a:extLst>
          </p:cNvPr>
          <p:cNvSpPr txBox="1"/>
          <p:nvPr/>
        </p:nvSpPr>
        <p:spPr>
          <a:xfrm>
            <a:off x="176812" y="1628761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Відеоспостереження</a:t>
            </a:r>
            <a:r>
              <a:rPr lang="en-US" dirty="0"/>
              <a:t> 1 </a:t>
            </a:r>
            <a:r>
              <a:rPr lang="en-US" dirty="0" err="1"/>
              <a:t>млрд</a:t>
            </a:r>
            <a:r>
              <a:rPr lang="en-US" dirty="0"/>
              <a:t>+ </a:t>
            </a:r>
            <a:r>
              <a:rPr lang="en-US" dirty="0" err="1"/>
              <a:t>камер</a:t>
            </a:r>
            <a:r>
              <a:rPr lang="en-US" dirty="0"/>
              <a:t> </a:t>
            </a:r>
            <a:r>
              <a:rPr lang="en-US" dirty="0" err="1"/>
              <a:t>записують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en-US" dirty="0"/>
              <a:t> </a:t>
            </a:r>
            <a:r>
              <a:rPr lang="en-US" dirty="0" err="1"/>
              <a:t>низькій</a:t>
            </a:r>
            <a:r>
              <a:rPr lang="en-US" dirty="0"/>
              <a:t> </a:t>
            </a:r>
            <a:r>
              <a:rPr lang="en-US" dirty="0" err="1"/>
              <a:t>якості</a:t>
            </a:r>
            <a:r>
              <a:rPr lang="en-US" dirty="0"/>
              <a:t> — SR </a:t>
            </a:r>
            <a:r>
              <a:rPr lang="en-US" dirty="0" err="1"/>
              <a:t>відновлює</a:t>
            </a:r>
            <a:r>
              <a:rPr lang="en-US" dirty="0"/>
              <a:t> </a:t>
            </a:r>
            <a:r>
              <a:rPr lang="en-US" dirty="0" err="1"/>
              <a:t>деталі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ідентифікації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AFD48B-4D1F-880E-81B0-AB7632706305}"/>
              </a:ext>
            </a:extLst>
          </p:cNvPr>
          <p:cNvSpPr txBox="1"/>
          <p:nvPr/>
        </p:nvSpPr>
        <p:spPr>
          <a:xfrm>
            <a:off x="4748812" y="251546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Супутники</a:t>
            </a:r>
            <a:r>
              <a:rPr lang="en-US" dirty="0"/>
              <a:t> 12 ТБ </a:t>
            </a:r>
            <a:r>
              <a:rPr lang="en-US" dirty="0" err="1"/>
              <a:t>знімків</a:t>
            </a:r>
            <a:r>
              <a:rPr lang="en-US" dirty="0"/>
              <a:t> </a:t>
            </a:r>
            <a:r>
              <a:rPr lang="en-US" dirty="0" err="1"/>
              <a:t>щодня</a:t>
            </a:r>
            <a:r>
              <a:rPr lang="en-US" dirty="0"/>
              <a:t> — SR </a:t>
            </a:r>
            <a:r>
              <a:rPr lang="en-US" dirty="0" err="1"/>
              <a:t>замінює</a:t>
            </a:r>
            <a:r>
              <a:rPr lang="en-US" dirty="0"/>
              <a:t> </a:t>
            </a:r>
            <a:r>
              <a:rPr lang="en-US" dirty="0" err="1"/>
              <a:t>новий</a:t>
            </a:r>
            <a:r>
              <a:rPr lang="en-US" dirty="0"/>
              <a:t> </a:t>
            </a:r>
            <a:r>
              <a:rPr lang="en-US" dirty="0" err="1"/>
              <a:t>супутник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$300 </a:t>
            </a:r>
            <a:r>
              <a:rPr lang="en-US" dirty="0" err="1"/>
              <a:t>млн</a:t>
            </a:r>
            <a:br>
              <a:rPr lang="en-US" dirty="0"/>
            </a:b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292993-F416-15A8-C3D9-968BBB050AD1}"/>
              </a:ext>
            </a:extLst>
          </p:cNvPr>
          <p:cNvSpPr txBox="1"/>
          <p:nvPr/>
        </p:nvSpPr>
        <p:spPr>
          <a:xfrm>
            <a:off x="4748812" y="3245241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Смартфони</a:t>
            </a:r>
            <a:r>
              <a:rPr lang="en-US" b="1" dirty="0"/>
              <a:t> </a:t>
            </a:r>
            <a:r>
              <a:rPr lang="en-US" b="1" dirty="0" err="1"/>
              <a:t>та</a:t>
            </a:r>
            <a:r>
              <a:rPr lang="en-US" b="1" dirty="0"/>
              <a:t> </a:t>
            </a:r>
            <a:r>
              <a:rPr lang="en-US" b="1" dirty="0" err="1"/>
              <a:t>стрімінг</a:t>
            </a:r>
            <a:r>
              <a:rPr lang="en-US" dirty="0"/>
              <a:t> Apple </a:t>
            </a:r>
            <a:r>
              <a:rPr lang="en-US" dirty="0" err="1"/>
              <a:t>MetalFX</a:t>
            </a:r>
            <a:r>
              <a:rPr lang="en-US" dirty="0"/>
              <a:t>, NVIDIA DLSS, Netflix — SR </a:t>
            </a:r>
            <a:r>
              <a:rPr lang="en-US" dirty="0" err="1"/>
              <a:t>вже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en-US" dirty="0"/>
              <a:t> </a:t>
            </a:r>
            <a:r>
              <a:rPr lang="en-US" dirty="0" err="1"/>
              <a:t>кожному</a:t>
            </a:r>
            <a:r>
              <a:rPr lang="en-US" dirty="0"/>
              <a:t> </a:t>
            </a:r>
            <a:r>
              <a:rPr lang="en-US" dirty="0" err="1"/>
              <a:t>пристрої</a:t>
            </a: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7B60CC-F900-951B-5241-B04EA2406EAD}"/>
              </a:ext>
            </a:extLst>
          </p:cNvPr>
          <p:cNvSpPr txBox="1"/>
          <p:nvPr/>
        </p:nvSpPr>
        <p:spPr>
          <a:xfrm>
            <a:off x="4748812" y="179715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Реставрація </a:t>
            </a:r>
            <a:r>
              <a:rPr lang="en-US" b="1" dirty="0" err="1"/>
              <a:t>архівів</a:t>
            </a:r>
            <a:r>
              <a:rPr lang="en-US" dirty="0"/>
              <a:t> Єдиний </a:t>
            </a:r>
            <a:r>
              <a:rPr lang="en-US" dirty="0" err="1"/>
              <a:t>спосіб</a:t>
            </a:r>
            <a:r>
              <a:rPr lang="en-US" dirty="0"/>
              <a:t> </a:t>
            </a:r>
            <a:r>
              <a:rPr lang="en-US" dirty="0" err="1"/>
              <a:t>відновити</a:t>
            </a:r>
            <a:r>
              <a:rPr lang="en-US" dirty="0"/>
              <a:t> </a:t>
            </a:r>
            <a:r>
              <a:rPr lang="en-US" dirty="0" err="1"/>
              <a:t>деталі</a:t>
            </a:r>
            <a:r>
              <a:rPr lang="en-US" dirty="0"/>
              <a:t> </a:t>
            </a:r>
            <a:r>
              <a:rPr lang="en-US" dirty="0" err="1"/>
              <a:t>унікальних</a:t>
            </a:r>
            <a:r>
              <a:rPr lang="en-US" dirty="0"/>
              <a:t> </a:t>
            </a:r>
            <a:r>
              <a:rPr lang="en-US" dirty="0" err="1"/>
              <a:t>історичних</a:t>
            </a:r>
            <a:r>
              <a:rPr lang="en-US" dirty="0"/>
              <a:t> </a:t>
            </a:r>
            <a:r>
              <a:rPr lang="en-US" dirty="0" err="1"/>
              <a:t>фото</a:t>
            </a:r>
            <a:endParaRPr lang="en-US" dirty="0"/>
          </a:p>
        </p:txBody>
      </p:sp>
      <p:pic>
        <p:nvPicPr>
          <p:cNvPr id="22" name="Picture 21" descr="Професійне видалення пилу з архівів – Захист та відновлення історії">
            <a:extLst>
              <a:ext uri="{FF2B5EF4-FFF2-40B4-BE49-F238E27FC236}">
                <a16:creationId xmlns:a16="http://schemas.microsoft.com/office/drawing/2014/main" id="{AD1FD447-DE0C-886E-3817-F4BFAF11F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472" y="281689"/>
            <a:ext cx="2277720" cy="13203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F90226-9434-96D4-7353-277B3EF6E606}"/>
              </a:ext>
            </a:extLst>
          </p:cNvPr>
          <p:cNvSpPr txBox="1"/>
          <p:nvPr/>
        </p:nvSpPr>
        <p:spPr>
          <a:xfrm>
            <a:off x="1459026" y="4342598"/>
            <a:ext cx="76849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$38 </a:t>
            </a:r>
            <a:r>
              <a:rPr lang="en-US" b="1" dirty="0" err="1"/>
              <a:t>млрд</a:t>
            </a:r>
            <a:r>
              <a:rPr lang="en-US" dirty="0"/>
              <a:t> — </a:t>
            </a:r>
            <a:r>
              <a:rPr lang="en-US" dirty="0" err="1"/>
              <a:t>ринок</a:t>
            </a:r>
            <a:r>
              <a:rPr lang="en-US" dirty="0"/>
              <a:t> </a:t>
            </a:r>
            <a:r>
              <a:rPr lang="en-US" dirty="0" err="1"/>
              <a:t>обробки</a:t>
            </a:r>
            <a:r>
              <a:rPr lang="en-US" dirty="0"/>
              <a:t> </a:t>
            </a:r>
            <a:r>
              <a:rPr lang="en-US" dirty="0" err="1"/>
              <a:t>зображень</a:t>
            </a:r>
            <a:r>
              <a:rPr lang="en-US" dirty="0"/>
              <a:t> 2024 · </a:t>
            </a:r>
            <a:r>
              <a:rPr lang="en-US" dirty="0" err="1"/>
              <a:t>прогноз</a:t>
            </a:r>
            <a:r>
              <a:rPr lang="en-US" dirty="0"/>
              <a:t> </a:t>
            </a:r>
            <a:r>
              <a:rPr lang="en-US" b="1" dirty="0"/>
              <a:t>$62 </a:t>
            </a:r>
            <a:r>
              <a:rPr lang="en-US" b="1" dirty="0" err="1"/>
              <a:t>млрд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2030</a:t>
            </a:r>
          </a:p>
        </p:txBody>
      </p:sp>
      <p:pic>
        <p:nvPicPr>
          <p:cNvPr id="20" name="Picture 19" descr="Вступ до медичного університету в Україні - спеціальність I2(222) Медицина  — Сучасна освіта - Довідник абітурієнта">
            <a:extLst>
              <a:ext uri="{FF2B5EF4-FFF2-40B4-BE49-F238E27FC236}">
                <a16:creationId xmlns:a16="http://schemas.microsoft.com/office/drawing/2014/main" id="{44F73EE2-60A3-0435-52A2-5D3052C41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558" y="281688"/>
            <a:ext cx="1988504" cy="1320366"/>
          </a:xfrm>
          <a:prstGeom prst="rect">
            <a:avLst/>
          </a:prstGeom>
        </p:spPr>
      </p:pic>
      <p:pic>
        <p:nvPicPr>
          <p:cNvPr id="21" name="Picture 20" descr="Важливість систем відеоспостереження під час війни*">
            <a:extLst>
              <a:ext uri="{FF2B5EF4-FFF2-40B4-BE49-F238E27FC236}">
                <a16:creationId xmlns:a16="http://schemas.microsoft.com/office/drawing/2014/main" id="{321C389C-5186-9262-7B7B-CF5F7FC809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812" y="2479286"/>
            <a:ext cx="2158894" cy="1511226"/>
          </a:xfrm>
          <a:prstGeom prst="rect">
            <a:avLst/>
          </a:prstGeom>
        </p:spPr>
      </p:pic>
      <p:pic>
        <p:nvPicPr>
          <p:cNvPr id="23" name="Picture 22" descr="Просто про складне | Як супутники бачать ворожу техніку">
            <a:extLst>
              <a:ext uri="{FF2B5EF4-FFF2-40B4-BE49-F238E27FC236}">
                <a16:creationId xmlns:a16="http://schemas.microsoft.com/office/drawing/2014/main" id="{32EFDD91-14CE-2CED-73C9-2259A8CE04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9327" y="2475652"/>
            <a:ext cx="2262380" cy="150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7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Огляд літератури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257640" y="855968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200" b="1" dirty="0">
                <a:highlight>
                  <a:srgbClr val="FFFFFF"/>
                </a:highlight>
              </a:rPr>
              <a:t>Anwar, Khan, Barnes (2022)</a:t>
            </a:r>
            <a:r>
              <a:rPr lang="en-US" sz="1200" dirty="0">
                <a:highlight>
                  <a:srgbClr val="FFFFFF"/>
                </a:highlight>
              </a:rPr>
              <a:t> "A deep journey into super-resolution: A survey" ACM Computing Surveys, 54(8) </a:t>
            </a:r>
            <a:r>
              <a:rPr lang="en-US" sz="1200" dirty="0" err="1">
                <a:highlight>
                  <a:srgbClr val="FFFFFF"/>
                </a:highlight>
              </a:rPr>
              <a:t>Систематичний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огляд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еволюції</a:t>
            </a:r>
            <a:r>
              <a:rPr lang="en-US" sz="1200" dirty="0">
                <a:highlight>
                  <a:srgbClr val="FFFFFF"/>
                </a:highlight>
              </a:rPr>
              <a:t> SR </a:t>
            </a:r>
            <a:r>
              <a:rPr lang="en-US" sz="1200" dirty="0" err="1">
                <a:highlight>
                  <a:srgbClr val="FFFFFF"/>
                </a:highlight>
              </a:rPr>
              <a:t>методів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від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класичної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інтерполяції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до</a:t>
            </a:r>
            <a:r>
              <a:rPr lang="en-US" sz="1200" dirty="0">
                <a:highlight>
                  <a:srgbClr val="FFFFFF"/>
                </a:highlight>
              </a:rPr>
              <a:t> GAN </a:t>
            </a:r>
            <a:r>
              <a:rPr lang="en-US" sz="1200" dirty="0" err="1">
                <a:highlight>
                  <a:srgbClr val="FFFFFF"/>
                </a:highlight>
              </a:rPr>
              <a:t>і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трансформерів</a:t>
            </a:r>
            <a:r>
              <a:rPr lang="en-US" sz="1200" dirty="0">
                <a:highlight>
                  <a:srgbClr val="FFFFFF"/>
                </a:highlight>
              </a:rPr>
              <a:t>. Класифікація </a:t>
            </a:r>
            <a:r>
              <a:rPr lang="en-US" sz="1200" dirty="0" err="1">
                <a:highlight>
                  <a:srgbClr val="FFFFFF"/>
                </a:highlight>
              </a:rPr>
              <a:t>підходів</a:t>
            </a:r>
            <a:r>
              <a:rPr lang="en-US" sz="1200" dirty="0">
                <a:highlight>
                  <a:srgbClr val="FFFFFF"/>
                </a:highlight>
              </a:rPr>
              <a:t>, </a:t>
            </a:r>
            <a:r>
              <a:rPr lang="en-US" sz="1200" dirty="0" err="1">
                <a:highlight>
                  <a:srgbClr val="FFFFFF"/>
                </a:highlight>
              </a:rPr>
              <a:t>аналіз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метрик</a:t>
            </a:r>
            <a:r>
              <a:rPr lang="en-US" sz="1200" dirty="0">
                <a:highlight>
                  <a:srgbClr val="FFFFFF"/>
                </a:highlight>
              </a:rPr>
              <a:t>, </a:t>
            </a:r>
            <a:r>
              <a:rPr lang="en-US" sz="1200" dirty="0" err="1">
                <a:highlight>
                  <a:srgbClr val="FFFFFF"/>
                </a:highlight>
              </a:rPr>
              <a:t>порівняння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архітектур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на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стандартних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бенчмарках</a:t>
            </a:r>
            <a:r>
              <a:rPr lang="en-US" sz="1200" dirty="0">
                <a:highlight>
                  <a:srgbClr val="FFFFFF"/>
                </a:highlight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1200" b="1" dirty="0">
                <a:highlight>
                  <a:srgbClr val="FFFFFF"/>
                </a:highlight>
              </a:rPr>
              <a:t>Wang, Chen, Hoi (2021)</a:t>
            </a:r>
            <a:r>
              <a:rPr lang="en-US" sz="1200" dirty="0">
                <a:highlight>
                  <a:srgbClr val="FFFFFF"/>
                </a:highlight>
              </a:rPr>
              <a:t> "Deep learning for image super-resolution: A survey" IEEE TPAMI, 43(10) Огляд </a:t>
            </a:r>
            <a:r>
              <a:rPr lang="en-US" sz="1200" dirty="0" err="1">
                <a:highlight>
                  <a:srgbClr val="FFFFFF"/>
                </a:highlight>
              </a:rPr>
              <a:t>методів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глибокого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навчання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для</a:t>
            </a:r>
            <a:r>
              <a:rPr lang="en-US" sz="1200" dirty="0">
                <a:highlight>
                  <a:srgbClr val="FFFFFF"/>
                </a:highlight>
              </a:rPr>
              <a:t> SR. Аналіз supervised, unsupervised </a:t>
            </a:r>
            <a:r>
              <a:rPr lang="en-US" sz="1200" dirty="0" err="1">
                <a:highlight>
                  <a:srgbClr val="FFFFFF"/>
                </a:highlight>
              </a:rPr>
              <a:t>та</a:t>
            </a:r>
            <a:r>
              <a:rPr lang="en-US" sz="1200" dirty="0">
                <a:highlight>
                  <a:srgbClr val="FFFFFF"/>
                </a:highlight>
              </a:rPr>
              <a:t> self-supervised </a:t>
            </a:r>
            <a:r>
              <a:rPr lang="en-US" sz="1200" dirty="0" err="1">
                <a:highlight>
                  <a:srgbClr val="FFFFFF"/>
                </a:highlight>
              </a:rPr>
              <a:t>підходів</a:t>
            </a:r>
            <a:r>
              <a:rPr lang="en-US" sz="1200" dirty="0">
                <a:highlight>
                  <a:srgbClr val="FFFFFF"/>
                </a:highlight>
              </a:rPr>
              <a:t>. </a:t>
            </a:r>
            <a:r>
              <a:rPr lang="en-US" sz="1200" dirty="0" err="1">
                <a:highlight>
                  <a:srgbClr val="FFFFFF"/>
                </a:highlight>
              </a:rPr>
              <a:t>Порівняння</a:t>
            </a:r>
            <a:r>
              <a:rPr lang="en-US" sz="1200" dirty="0">
                <a:highlight>
                  <a:srgbClr val="FFFFFF"/>
                </a:highlight>
              </a:rPr>
              <a:t> CNN, GAN </a:t>
            </a:r>
            <a:r>
              <a:rPr lang="en-US" sz="1200" dirty="0" err="1">
                <a:highlight>
                  <a:srgbClr val="FFFFFF"/>
                </a:highlight>
              </a:rPr>
              <a:t>і</a:t>
            </a:r>
            <a:r>
              <a:rPr lang="en-US" sz="1200" dirty="0">
                <a:highlight>
                  <a:srgbClr val="FFFFFF"/>
                </a:highlight>
              </a:rPr>
              <a:t> attention-based </a:t>
            </a:r>
            <a:r>
              <a:rPr lang="en-US" sz="1200" dirty="0" err="1">
                <a:highlight>
                  <a:srgbClr val="FFFFFF"/>
                </a:highlight>
              </a:rPr>
              <a:t>архітектур</a:t>
            </a:r>
            <a:r>
              <a:rPr lang="en-US" sz="1200" dirty="0">
                <a:highlight>
                  <a:srgbClr val="FFFFFF"/>
                </a:highlight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1200" b="1" dirty="0">
                <a:highlight>
                  <a:srgbClr val="FFFFFF"/>
                </a:highlight>
              </a:rPr>
              <a:t>Wang, Xie, Dong, Shan (2021)</a:t>
            </a:r>
            <a:r>
              <a:rPr lang="en-US" sz="1200" dirty="0">
                <a:highlight>
                  <a:srgbClr val="FFFFFF"/>
                </a:highlight>
              </a:rPr>
              <a:t> "Real-ESRGAN: Training real-world blind super-resolution with pure synthetic data" IEEE/CVF ICCV Workshops </a:t>
            </a:r>
            <a:r>
              <a:rPr lang="en-US" sz="1200" dirty="0" err="1">
                <a:highlight>
                  <a:srgbClr val="FFFFFF"/>
                </a:highlight>
              </a:rPr>
              <a:t>Метод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навчання</a:t>
            </a:r>
            <a:r>
              <a:rPr lang="en-US" sz="1200" dirty="0">
                <a:highlight>
                  <a:srgbClr val="FFFFFF"/>
                </a:highlight>
              </a:rPr>
              <a:t> SR </a:t>
            </a:r>
            <a:r>
              <a:rPr lang="en-US" sz="1200" dirty="0" err="1">
                <a:highlight>
                  <a:srgbClr val="FFFFFF"/>
                </a:highlight>
              </a:rPr>
              <a:t>моделі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на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синтетичних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деградаціях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для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роботи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з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реальними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зображеннями</a:t>
            </a:r>
            <a:r>
              <a:rPr lang="en-US" sz="1200" dirty="0">
                <a:highlight>
                  <a:srgbClr val="FFFFFF"/>
                </a:highlight>
              </a:rPr>
              <a:t>. Багаторівнева </a:t>
            </a:r>
            <a:r>
              <a:rPr lang="en-US" sz="1200" dirty="0" err="1">
                <a:highlight>
                  <a:srgbClr val="FFFFFF"/>
                </a:highlight>
              </a:rPr>
              <a:t>модель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деградації</a:t>
            </a:r>
            <a:r>
              <a:rPr lang="en-US" sz="1200" dirty="0">
                <a:highlight>
                  <a:srgbClr val="FFFFFF"/>
                </a:highlight>
              </a:rPr>
              <a:t> — blur, noise, JPEG compression, resize.</a:t>
            </a:r>
          </a:p>
          <a:p>
            <a:pPr>
              <a:buFont typeface="+mj-lt"/>
              <a:buAutoNum type="arabicPeriod"/>
            </a:pPr>
            <a:r>
              <a:rPr lang="en-US" sz="1200" b="1" dirty="0">
                <a:highlight>
                  <a:srgbClr val="FFFFFF"/>
                </a:highlight>
              </a:rPr>
              <a:t>Liang et al. (2021)</a:t>
            </a:r>
            <a:r>
              <a:rPr lang="en-US" sz="1200" dirty="0">
                <a:highlight>
                  <a:srgbClr val="FFFFFF"/>
                </a:highlight>
              </a:rPr>
              <a:t> "</a:t>
            </a:r>
            <a:r>
              <a:rPr lang="en-US" sz="1200" dirty="0" err="1">
                <a:highlight>
                  <a:srgbClr val="FFFFFF"/>
                </a:highlight>
              </a:rPr>
              <a:t>SwinIR</a:t>
            </a:r>
            <a:r>
              <a:rPr lang="en-US" sz="1200" dirty="0">
                <a:highlight>
                  <a:srgbClr val="FFFFFF"/>
                </a:highlight>
              </a:rPr>
              <a:t>: Image restoration using Swin transformer" IEEE/CVF ICCV Workshops </a:t>
            </a:r>
            <a:r>
              <a:rPr lang="en-US" sz="1200" dirty="0" err="1">
                <a:highlight>
                  <a:srgbClr val="FFFFFF"/>
                </a:highlight>
              </a:rPr>
              <a:t>Адаптація</a:t>
            </a:r>
            <a:r>
              <a:rPr lang="en-US" sz="1200" dirty="0">
                <a:highlight>
                  <a:srgbClr val="FFFFFF"/>
                </a:highlight>
              </a:rPr>
              <a:t> Swin Transformer </a:t>
            </a:r>
            <a:r>
              <a:rPr lang="en-US" sz="1200" dirty="0" err="1">
                <a:highlight>
                  <a:srgbClr val="FFFFFF"/>
                </a:highlight>
              </a:rPr>
              <a:t>для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задач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відновлення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зображень</a:t>
            </a:r>
            <a:r>
              <a:rPr lang="en-US" sz="1200" dirty="0">
                <a:highlight>
                  <a:srgbClr val="FFFFFF"/>
                </a:highlight>
              </a:rPr>
              <a:t>. Window-based self-attention </a:t>
            </a:r>
            <a:r>
              <a:rPr lang="en-US" sz="1200" dirty="0" err="1">
                <a:highlight>
                  <a:srgbClr val="FFFFFF"/>
                </a:highlight>
              </a:rPr>
              <a:t>дозволяє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моделювати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глобальні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залежності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при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лінійній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складності</a:t>
            </a:r>
            <a:r>
              <a:rPr lang="en-US" sz="1200" dirty="0">
                <a:highlight>
                  <a:srgbClr val="FFFFFF"/>
                </a:highlight>
              </a:rPr>
              <a:t>. SOTA </a:t>
            </a:r>
            <a:r>
              <a:rPr lang="en-US" sz="1200" dirty="0" err="1">
                <a:highlight>
                  <a:srgbClr val="FFFFFF"/>
                </a:highlight>
              </a:rPr>
              <a:t>результати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на</a:t>
            </a:r>
            <a:r>
              <a:rPr lang="en-US" sz="1200" dirty="0">
                <a:highlight>
                  <a:srgbClr val="FFFFFF"/>
                </a:highlight>
              </a:rPr>
              <a:t> SR </a:t>
            </a:r>
            <a:r>
              <a:rPr lang="en-US" sz="1200" dirty="0" err="1">
                <a:highlight>
                  <a:srgbClr val="FFFFFF"/>
                </a:highlight>
              </a:rPr>
              <a:t>бенчмарках</a:t>
            </a:r>
            <a:r>
              <a:rPr lang="en-US" sz="1200" dirty="0">
                <a:highlight>
                  <a:srgbClr val="FFFFFF"/>
                </a:highlight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1200" b="1" dirty="0">
                <a:highlight>
                  <a:srgbClr val="FFFFFF"/>
                </a:highlight>
              </a:rPr>
              <a:t>Chen et al. (2023)</a:t>
            </a:r>
            <a:r>
              <a:rPr lang="en-US" sz="1200" dirty="0">
                <a:highlight>
                  <a:srgbClr val="FFFFFF"/>
                </a:highlight>
              </a:rPr>
              <a:t> "Activating more pixels in image super-resolution transformer" IEEE/CVF CVPR HAT (Hybrid Attention Transformer) — </a:t>
            </a:r>
            <a:r>
              <a:rPr lang="en-US" sz="1200" dirty="0" err="1">
                <a:highlight>
                  <a:srgbClr val="FFFFFF"/>
                </a:highlight>
              </a:rPr>
              <a:t>поєднання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канальної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уваги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та</a:t>
            </a:r>
            <a:r>
              <a:rPr lang="en-US" sz="1200" dirty="0">
                <a:highlight>
                  <a:srgbClr val="FFFFFF"/>
                </a:highlight>
              </a:rPr>
              <a:t> self-attention </a:t>
            </a:r>
            <a:r>
              <a:rPr lang="en-US" sz="1200" dirty="0" err="1">
                <a:highlight>
                  <a:srgbClr val="FFFFFF"/>
                </a:highlight>
              </a:rPr>
              <a:t>з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перекриттям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вікон</a:t>
            </a:r>
            <a:r>
              <a:rPr lang="en-US" sz="1200" dirty="0">
                <a:highlight>
                  <a:srgbClr val="FFFFFF"/>
                </a:highlight>
              </a:rPr>
              <a:t>. Найвищі </a:t>
            </a:r>
            <a:r>
              <a:rPr lang="en-US" sz="1200" dirty="0" err="1">
                <a:highlight>
                  <a:srgbClr val="FFFFFF"/>
                </a:highlight>
              </a:rPr>
              <a:t>результати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серед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недифузійних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методів</a:t>
            </a:r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dirty="0" err="1">
                <a:highlight>
                  <a:srgbClr val="FFFFFF"/>
                </a:highlight>
              </a:rPr>
              <a:t>на</a:t>
            </a:r>
            <a:r>
              <a:rPr lang="en-US" sz="1200" dirty="0">
                <a:highlight>
                  <a:srgbClr val="FFFFFF"/>
                </a:highlight>
              </a:rPr>
              <a:t> Set5, Set14, BSD100.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6597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</a:t>
            </a:r>
            <a:endParaRPr sz="3200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65A4F5-D808-8CD7-0C39-3EDF85FEE633}"/>
              </a:ext>
            </a:extLst>
          </p:cNvPr>
          <p:cNvSpPr txBox="1"/>
          <p:nvPr/>
        </p:nvSpPr>
        <p:spPr>
          <a:xfrm>
            <a:off x="268925" y="950691"/>
            <a:ext cx="875059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Мета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дослідити</a:t>
            </a:r>
            <a:r>
              <a:rPr lang="en-US" dirty="0"/>
              <a:t> </a:t>
            </a:r>
            <a:r>
              <a:rPr lang="en-US" dirty="0" err="1"/>
              <a:t>ефективність</a:t>
            </a:r>
            <a:r>
              <a:rPr lang="en-US" dirty="0"/>
              <a:t> </a:t>
            </a:r>
            <a:r>
              <a:rPr lang="en-US" dirty="0" err="1"/>
              <a:t>методів</a:t>
            </a:r>
            <a:r>
              <a:rPr lang="en-US" dirty="0"/>
              <a:t> </a:t>
            </a:r>
            <a:r>
              <a:rPr lang="en-US" dirty="0" err="1"/>
              <a:t>збільшення</a:t>
            </a:r>
            <a:r>
              <a:rPr lang="en-US" dirty="0"/>
              <a:t> </a:t>
            </a:r>
            <a:r>
              <a:rPr lang="en-US" dirty="0" err="1"/>
              <a:t>роздільної</a:t>
            </a:r>
            <a:r>
              <a:rPr lang="en-US" dirty="0"/>
              <a:t> </a:t>
            </a:r>
            <a:r>
              <a:rPr lang="en-US" dirty="0" err="1"/>
              <a:t>здатності</a:t>
            </a:r>
            <a:r>
              <a:rPr lang="en-US" dirty="0"/>
              <a:t> </a:t>
            </a:r>
            <a:r>
              <a:rPr lang="en-US" dirty="0" err="1"/>
              <a:t>зображень</a:t>
            </a:r>
            <a:r>
              <a:rPr lang="en-US" dirty="0"/>
              <a:t> </a:t>
            </a:r>
            <a:r>
              <a:rPr lang="uk-UA" dirty="0"/>
              <a:t>-</a:t>
            </a:r>
            <a:r>
              <a:rPr lang="en-US" dirty="0"/>
              <a:t> </a:t>
            </a:r>
            <a:r>
              <a:rPr lang="en-US" dirty="0" err="1"/>
              <a:t>традиційних</a:t>
            </a:r>
            <a:r>
              <a:rPr lang="en-US" dirty="0"/>
              <a:t> </a:t>
            </a:r>
            <a:r>
              <a:rPr lang="en-US" dirty="0" err="1"/>
              <a:t>алгоритмів</a:t>
            </a:r>
            <a:r>
              <a:rPr lang="en-US" dirty="0"/>
              <a:t> </a:t>
            </a:r>
            <a:r>
              <a:rPr lang="en-US" dirty="0" err="1"/>
              <a:t>інтерполяції</a:t>
            </a:r>
            <a:r>
              <a:rPr lang="en-US" dirty="0"/>
              <a:t>, </a:t>
            </a:r>
            <a:r>
              <a:rPr lang="en-US" dirty="0" err="1"/>
              <a:t>нейромережевого</a:t>
            </a:r>
            <a:r>
              <a:rPr lang="en-US" dirty="0"/>
              <a:t> </a:t>
            </a:r>
            <a:r>
              <a:rPr lang="en-US" dirty="0" err="1"/>
              <a:t>підходу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ансамблевих</a:t>
            </a:r>
            <a:r>
              <a:rPr lang="en-US" dirty="0"/>
              <a:t> </a:t>
            </a:r>
            <a:r>
              <a:rPr lang="en-US" dirty="0" err="1"/>
              <a:t>стратегій</a:t>
            </a:r>
            <a:r>
              <a:rPr lang="en-US" dirty="0"/>
              <a:t> </a:t>
            </a:r>
            <a:r>
              <a:rPr lang="uk-UA" dirty="0"/>
              <a:t>-</a:t>
            </a:r>
            <a:r>
              <a:rPr lang="en-US" dirty="0"/>
              <a:t> </a:t>
            </a:r>
            <a:r>
              <a:rPr lang="en-US" dirty="0" err="1"/>
              <a:t>залежно</a:t>
            </a:r>
            <a:r>
              <a:rPr lang="en-US" dirty="0"/>
              <a:t> </a:t>
            </a:r>
            <a:r>
              <a:rPr lang="en-US" dirty="0" err="1"/>
              <a:t>від</a:t>
            </a:r>
            <a:r>
              <a:rPr lang="en-US" dirty="0"/>
              <a:t> </a:t>
            </a:r>
            <a:r>
              <a:rPr lang="en-US" dirty="0" err="1"/>
              <a:t>типу</a:t>
            </a:r>
            <a:r>
              <a:rPr lang="en-US" dirty="0"/>
              <a:t> </a:t>
            </a:r>
            <a:r>
              <a:rPr lang="en-US" dirty="0" err="1"/>
              <a:t>вхідного</a:t>
            </a:r>
            <a:r>
              <a:rPr lang="en-US" dirty="0"/>
              <a:t> </a:t>
            </a:r>
            <a:r>
              <a:rPr lang="en-US" dirty="0" err="1"/>
              <a:t>зображення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коефіцієнта</a:t>
            </a:r>
            <a:r>
              <a:rPr lang="en-US" dirty="0"/>
              <a:t> </a:t>
            </a:r>
            <a:r>
              <a:rPr lang="en-US" dirty="0" err="1"/>
              <a:t>збільшення</a:t>
            </a:r>
            <a:r>
              <a:rPr lang="en-US" dirty="0"/>
              <a:t>.</a:t>
            </a:r>
          </a:p>
          <a:p>
            <a:r>
              <a:rPr lang="en-US" b="1" dirty="0" err="1"/>
              <a:t>Об'єкт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процеси</a:t>
            </a:r>
            <a:r>
              <a:rPr lang="en-US" dirty="0"/>
              <a:t> </a:t>
            </a:r>
            <a:r>
              <a:rPr lang="en-US" dirty="0" err="1"/>
              <a:t>збільшення</a:t>
            </a:r>
            <a:r>
              <a:rPr lang="en-US" dirty="0"/>
              <a:t> </a:t>
            </a:r>
            <a:r>
              <a:rPr lang="en-US" dirty="0" err="1"/>
              <a:t>роздільної</a:t>
            </a:r>
            <a:r>
              <a:rPr lang="en-US" dirty="0"/>
              <a:t> </a:t>
            </a:r>
            <a:r>
              <a:rPr lang="en-US" dirty="0" err="1"/>
              <a:t>здатності</a:t>
            </a:r>
            <a:r>
              <a:rPr lang="en-US" dirty="0"/>
              <a:t> </a:t>
            </a:r>
            <a:r>
              <a:rPr lang="en-US" dirty="0" err="1"/>
              <a:t>цифрових</a:t>
            </a:r>
            <a:r>
              <a:rPr lang="en-US" dirty="0"/>
              <a:t> </a:t>
            </a:r>
            <a:r>
              <a:rPr lang="en-US" dirty="0" err="1"/>
              <a:t>зображень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en-US" dirty="0"/>
              <a:t> </a:t>
            </a:r>
            <a:r>
              <a:rPr lang="en-US" dirty="0" err="1"/>
              <a:t>задачах</a:t>
            </a:r>
            <a:r>
              <a:rPr lang="en-US" dirty="0"/>
              <a:t> </a:t>
            </a:r>
            <a:r>
              <a:rPr lang="en-US" dirty="0" err="1"/>
              <a:t>комп'ютерного</a:t>
            </a:r>
            <a:r>
              <a:rPr lang="en-US" dirty="0"/>
              <a:t> </a:t>
            </a:r>
            <a:r>
              <a:rPr lang="en-US" dirty="0" err="1"/>
              <a:t>зору</a:t>
            </a:r>
            <a:r>
              <a:rPr lang="en-US" dirty="0"/>
              <a:t>.</a:t>
            </a:r>
          </a:p>
          <a:p>
            <a:r>
              <a:rPr lang="en-US" b="1" dirty="0" err="1"/>
              <a:t>Предмет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алгоритми</a:t>
            </a:r>
            <a:r>
              <a:rPr lang="en-US" dirty="0"/>
              <a:t> </a:t>
            </a:r>
            <a:r>
              <a:rPr lang="en-US" dirty="0" err="1"/>
              <a:t>інтерполяції</a:t>
            </a:r>
            <a:r>
              <a:rPr lang="en-US" dirty="0"/>
              <a:t>, </a:t>
            </a:r>
            <a:r>
              <a:rPr lang="en-US" dirty="0" err="1"/>
              <a:t>архітектура</a:t>
            </a:r>
            <a:r>
              <a:rPr lang="en-US" dirty="0"/>
              <a:t> SRCNN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стратегії</a:t>
            </a:r>
            <a:r>
              <a:rPr lang="en-US" dirty="0"/>
              <a:t> </a:t>
            </a:r>
            <a:r>
              <a:rPr lang="en-US" dirty="0" err="1"/>
              <a:t>ансамблювання</a:t>
            </a:r>
            <a:r>
              <a:rPr lang="en-US" dirty="0"/>
              <a:t> </a:t>
            </a:r>
            <a:r>
              <a:rPr lang="en-US" dirty="0" err="1"/>
              <a:t>як</a:t>
            </a:r>
            <a:r>
              <a:rPr lang="en-US" dirty="0"/>
              <a:t> </a:t>
            </a:r>
            <a:r>
              <a:rPr lang="en-US" dirty="0" err="1"/>
              <a:t>методи</a:t>
            </a:r>
            <a:r>
              <a:rPr lang="en-US" dirty="0"/>
              <a:t> </a:t>
            </a:r>
            <a:r>
              <a:rPr lang="en-US" dirty="0" err="1"/>
              <a:t>вирішення</a:t>
            </a:r>
            <a:r>
              <a:rPr lang="en-US" dirty="0"/>
              <a:t> </a:t>
            </a:r>
            <a:r>
              <a:rPr lang="en-US" dirty="0" err="1"/>
              <a:t>задачі</a:t>
            </a:r>
            <a:r>
              <a:rPr lang="en-US" dirty="0"/>
              <a:t> SR.</a:t>
            </a:r>
          </a:p>
          <a:p>
            <a:endParaRPr lang="uk-UA" b="1" dirty="0"/>
          </a:p>
          <a:p>
            <a:r>
              <a:rPr lang="en-US" b="1" dirty="0" err="1"/>
              <a:t>Завдання</a:t>
            </a:r>
            <a:r>
              <a:rPr lang="en-US" b="1" dirty="0"/>
              <a:t>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Реалізувати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порівняти</a:t>
            </a:r>
            <a:r>
              <a:rPr lang="en-US" dirty="0"/>
              <a:t> 9 </a:t>
            </a:r>
            <a:r>
              <a:rPr lang="en-US" dirty="0" err="1"/>
              <a:t>методів</a:t>
            </a:r>
            <a:r>
              <a:rPr lang="en-US" dirty="0"/>
              <a:t> SR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єдиному</a:t>
            </a:r>
            <a:r>
              <a:rPr lang="en-US" dirty="0"/>
              <a:t> pipeline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Навчити</a:t>
            </a:r>
            <a:r>
              <a:rPr lang="en-US" dirty="0"/>
              <a:t> SRCNN </a:t>
            </a:r>
            <a:r>
              <a:rPr lang="en-US" dirty="0" err="1"/>
              <a:t>на</a:t>
            </a:r>
            <a:r>
              <a:rPr lang="en-US" dirty="0"/>
              <a:t> DIV2K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дослідити</a:t>
            </a:r>
            <a:r>
              <a:rPr lang="en-US" dirty="0"/>
              <a:t> </a:t>
            </a:r>
            <a:r>
              <a:rPr lang="en-US" dirty="0" err="1"/>
              <a:t>вплив</a:t>
            </a:r>
            <a:r>
              <a:rPr lang="en-US" dirty="0"/>
              <a:t> </a:t>
            </a:r>
            <a:r>
              <a:rPr lang="en-US" dirty="0" err="1"/>
              <a:t>обмеженого</a:t>
            </a:r>
            <a:r>
              <a:rPr lang="en-US" dirty="0"/>
              <a:t> </a:t>
            </a:r>
            <a:r>
              <a:rPr lang="en-US" dirty="0" err="1"/>
              <a:t>навчання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якість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Провести </a:t>
            </a:r>
            <a:r>
              <a:rPr lang="en-US" dirty="0" err="1"/>
              <a:t>експеримент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трьох</a:t>
            </a:r>
            <a:r>
              <a:rPr lang="en-US" dirty="0"/>
              <a:t> </a:t>
            </a:r>
            <a:r>
              <a:rPr lang="en-US" dirty="0" err="1"/>
              <a:t>типах</a:t>
            </a:r>
            <a:r>
              <a:rPr lang="en-US" dirty="0"/>
              <a:t> </a:t>
            </a:r>
            <a:r>
              <a:rPr lang="en-US" dirty="0" err="1"/>
              <a:t>зображень</a:t>
            </a:r>
            <a:r>
              <a:rPr lang="en-US" dirty="0"/>
              <a:t> — </a:t>
            </a:r>
            <a:r>
              <a:rPr lang="en-US" dirty="0" err="1"/>
              <a:t>архітектура</a:t>
            </a:r>
            <a:r>
              <a:rPr lang="en-US" dirty="0"/>
              <a:t>, </a:t>
            </a:r>
            <a:r>
              <a:rPr lang="en-US" dirty="0" err="1"/>
              <a:t>портрети</a:t>
            </a:r>
            <a:r>
              <a:rPr lang="en-US" dirty="0"/>
              <a:t>, </a:t>
            </a:r>
            <a:r>
              <a:rPr lang="en-US" dirty="0" err="1"/>
              <a:t>пейзажі</a:t>
            </a:r>
            <a:r>
              <a:rPr lang="en-US" dirty="0"/>
              <a:t> </a:t>
            </a:r>
            <a:r>
              <a:rPr lang="uk-UA" dirty="0"/>
              <a:t>-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10 </a:t>
            </a:r>
            <a:r>
              <a:rPr lang="en-US" dirty="0" err="1"/>
              <a:t>зображень</a:t>
            </a:r>
            <a:r>
              <a:rPr lang="en-US" dirty="0"/>
              <a:t> </a:t>
            </a:r>
            <a:r>
              <a:rPr lang="en-US" dirty="0" err="1"/>
              <a:t>кожного</a:t>
            </a:r>
            <a:r>
              <a:rPr lang="en-US" dirty="0"/>
              <a:t> </a:t>
            </a:r>
            <a:r>
              <a:rPr lang="en-US" dirty="0" err="1"/>
              <a:t>типу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Дослідити </a:t>
            </a:r>
            <a:r>
              <a:rPr lang="en-US" dirty="0" err="1"/>
              <a:t>залежність</a:t>
            </a:r>
            <a:r>
              <a:rPr lang="en-US" dirty="0"/>
              <a:t> </a:t>
            </a:r>
            <a:r>
              <a:rPr lang="en-US" dirty="0" err="1"/>
              <a:t>якості</a:t>
            </a:r>
            <a:r>
              <a:rPr lang="en-US" dirty="0"/>
              <a:t> </a:t>
            </a:r>
            <a:r>
              <a:rPr lang="en-US" dirty="0" err="1"/>
              <a:t>відновлення</a:t>
            </a:r>
            <a:r>
              <a:rPr lang="en-US" dirty="0"/>
              <a:t> </a:t>
            </a:r>
            <a:r>
              <a:rPr lang="en-US" dirty="0" err="1"/>
              <a:t>від</a:t>
            </a:r>
            <a:r>
              <a:rPr lang="en-US" dirty="0"/>
              <a:t> </a:t>
            </a:r>
            <a:r>
              <a:rPr lang="en-US" dirty="0" err="1"/>
              <a:t>масштабу</a:t>
            </a:r>
            <a:r>
              <a:rPr lang="en-US" dirty="0"/>
              <a:t> </a:t>
            </a:r>
            <a:r>
              <a:rPr lang="en-US" dirty="0" err="1"/>
              <a:t>збільшення</a:t>
            </a:r>
            <a:r>
              <a:rPr lang="en-US" dirty="0"/>
              <a:t> ×2 </a:t>
            </a:r>
            <a:r>
              <a:rPr lang="en-US" dirty="0" err="1"/>
              <a:t>та</a:t>
            </a:r>
            <a:r>
              <a:rPr lang="en-US" dirty="0"/>
              <a:t> ×4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Розробити </a:t>
            </a:r>
            <a:r>
              <a:rPr lang="en-US" dirty="0" err="1"/>
              <a:t>інтерактивну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візуального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кількісного</a:t>
            </a:r>
            <a:r>
              <a:rPr lang="en-US" dirty="0"/>
              <a:t> </a:t>
            </a:r>
            <a:r>
              <a:rPr lang="en-US" dirty="0" err="1"/>
              <a:t>порівняння</a:t>
            </a:r>
            <a:r>
              <a:rPr lang="en-US" dirty="0"/>
              <a:t> </a:t>
            </a:r>
            <a:r>
              <a:rPr lang="en-US" dirty="0" err="1"/>
              <a:t>методів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103078" y="-2977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 err="1"/>
              <a:t>Вибір</a:t>
            </a:r>
            <a:r>
              <a:rPr lang="en-US" sz="3200" dirty="0"/>
              <a:t> </a:t>
            </a:r>
            <a:r>
              <a:rPr lang="en-US" sz="3200" dirty="0" err="1"/>
              <a:t>методів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DA5F673-DDAB-DCA2-5AC5-6B08E313E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70413"/>
              </p:ext>
            </p:extLst>
          </p:nvPr>
        </p:nvGraphicFramePr>
        <p:xfrm>
          <a:off x="1539688" y="801530"/>
          <a:ext cx="6830039" cy="4043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95705">
                  <a:extLst>
                    <a:ext uri="{9D8B030D-6E8A-4147-A177-3AD203B41FA5}">
                      <a16:colId xmlns:a16="http://schemas.microsoft.com/office/drawing/2014/main" val="3768868309"/>
                    </a:ext>
                  </a:extLst>
                </a:gridCol>
                <a:gridCol w="2817167">
                  <a:extLst>
                    <a:ext uri="{9D8B030D-6E8A-4147-A177-3AD203B41FA5}">
                      <a16:colId xmlns:a16="http://schemas.microsoft.com/office/drawing/2014/main" val="3668624012"/>
                    </a:ext>
                  </a:extLst>
                </a:gridCol>
                <a:gridCol w="2817167">
                  <a:extLst>
                    <a:ext uri="{9D8B030D-6E8A-4147-A177-3AD203B41FA5}">
                      <a16:colId xmlns:a16="http://schemas.microsoft.com/office/drawing/2014/main" val="3918195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Що робить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Де працює найкраще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1017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Bicubic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16 сусідів + кубічна формула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Скрізь як baseline, real-time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61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Lanczos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64 сусіди + sinc-функція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Портрети, пейзажі, плавні градієнти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15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Edge-Directed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Окрема обробка країв і рівних областей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Архітектура, текст, чіткі контури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89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IBP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10 разів виправляє себе порівнюючи з оригіналом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Текстури, висока точність без GPU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89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SRCNN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Нейромережа навчена на 800 зображеннях DIV2K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Складні текстури при достатньому навчанні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706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Weighted 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Bicubic×0.3 + Lanczos×0.4 + Edge×0.3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Стабільний результат на будь-якому контенті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324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Adaptive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Визначає тип зображення → вибирає 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Змішаний контент, невідомий тип зображення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268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Region-Based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Краї→Edge, текстури→IBP, гладке→Lanczos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Складні сцени з різним контентом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894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Cascade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Bicubic → підсилення країв → шумоподавлення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Архітектура</a:t>
                      </a:r>
                      <a:r>
                        <a:rPr lang="en-US" sz="1100" dirty="0"/>
                        <a:t>, </a:t>
                      </a:r>
                      <a:r>
                        <a:rPr lang="en-US" sz="1100" dirty="0" err="1"/>
                        <a:t>зображення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з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шумом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4992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9CB18CC1-B26E-6DE4-05E1-BFFCEA13D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D73C25F4-0D73-49FA-DE22-54C56AD61C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078" y="17604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uk-UA" sz="3200" dirty="0"/>
              <a:t>Метрики якості</a:t>
            </a:r>
            <a:endParaRPr sz="3200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E9F8ECF8-256E-2F0F-D2A5-0842E68ACEA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9A9D77-2071-3798-6EA1-4C9002B689B1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C04DCE-9C6F-3000-1A41-D0BE43DA3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222934"/>
              </p:ext>
            </p:extLst>
          </p:nvPr>
        </p:nvGraphicFramePr>
        <p:xfrm>
          <a:off x="1290666" y="848904"/>
          <a:ext cx="7629600" cy="380466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3892">
                  <a:extLst>
                    <a:ext uri="{9D8B030D-6E8A-4147-A177-3AD203B41FA5}">
                      <a16:colId xmlns:a16="http://schemas.microsoft.com/office/drawing/2014/main" val="3803569857"/>
                    </a:ext>
                  </a:extLst>
                </a:gridCol>
                <a:gridCol w="2520908">
                  <a:extLst>
                    <a:ext uri="{9D8B030D-6E8A-4147-A177-3AD203B41FA5}">
                      <a16:colId xmlns:a16="http://schemas.microsoft.com/office/drawing/2014/main" val="2684386478"/>
                    </a:ext>
                  </a:extLst>
                </a:gridCol>
                <a:gridCol w="2237873">
                  <a:extLst>
                    <a:ext uri="{9D8B030D-6E8A-4147-A177-3AD203B41FA5}">
                      <a16:colId xmlns:a16="http://schemas.microsoft.com/office/drawing/2014/main" val="3067274605"/>
                    </a:ext>
                  </a:extLst>
                </a:gridCol>
                <a:gridCol w="1576927">
                  <a:extLst>
                    <a:ext uri="{9D8B030D-6E8A-4147-A177-3AD203B41FA5}">
                      <a16:colId xmlns:a16="http://schemas.microsoft.com/office/drawing/2014/main" val="1498853581"/>
                    </a:ext>
                  </a:extLst>
                </a:gridCol>
              </a:tblGrid>
              <a:tr h="265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Метрика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Повна назва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Що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вимірює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Краще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234496"/>
                  </a:ext>
                </a:extLst>
              </a:tr>
              <a:tr h="600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PSNR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Peak Signal-to-Noise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Різниця пікселів через логарифм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↑ вище (dB)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372659"/>
                  </a:ext>
                </a:extLst>
              </a:tr>
              <a:tr h="600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Structural Similarity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Яскравість + контраст + структура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↑ вище (0→1)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577800"/>
                  </a:ext>
                </a:extLst>
              </a:tr>
              <a:tr h="776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LPIPS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Learned Perceptual Image Patch 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Схожість як бачить людина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↓ менше (0→1)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46580"/>
                  </a:ext>
                </a:extLst>
              </a:tr>
              <a:tr h="776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Mean Squared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Середня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квадратична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похибка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пікселів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↓ менше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210879"/>
                  </a:ext>
                </a:extLst>
              </a:tr>
              <a:tr h="776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Mean Absolute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Середня </a:t>
                      </a:r>
                      <a:r>
                        <a:rPr lang="en-US" sz="1200" dirty="0" err="1"/>
                        <a:t>абсолютна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похибка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пікселів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↓ </a:t>
                      </a:r>
                      <a:r>
                        <a:rPr lang="en-US" sz="1200" dirty="0" err="1"/>
                        <a:t>менше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57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145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25764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sz="3200" dirty="0" err="1"/>
              <a:t>Планування</a:t>
            </a:r>
            <a:r>
              <a:rPr lang="en-US" sz="3200" dirty="0"/>
              <a:t> </a:t>
            </a:r>
            <a:r>
              <a:rPr lang="en-US" sz="3200" dirty="0" err="1"/>
              <a:t>експерименту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257640" y="84424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342900" lvl="0">
              <a:spcBef>
                <a:spcPts val="1500"/>
              </a:spcBef>
              <a:buFont typeface="+mj-lt"/>
              <a:buAutoNum type="arabicPeriod"/>
            </a:pPr>
            <a:r>
              <a:rPr lang="en-US" dirty="0" err="1">
                <a:highlight>
                  <a:srgbClr val="FFFFFF"/>
                </a:highlight>
              </a:rPr>
              <a:t>Реалізувати</a:t>
            </a:r>
            <a:r>
              <a:rPr lang="en-US" dirty="0">
                <a:highlight>
                  <a:srgbClr val="FFFFFF"/>
                </a:highlight>
              </a:rPr>
              <a:t> 9 </a:t>
            </a:r>
            <a:r>
              <a:rPr lang="en-US" dirty="0" err="1">
                <a:highlight>
                  <a:srgbClr val="FFFFFF"/>
                </a:highlight>
              </a:rPr>
              <a:t>методів</a:t>
            </a:r>
            <a:r>
              <a:rPr lang="en-US" dirty="0">
                <a:highlight>
                  <a:srgbClr val="FFFFFF"/>
                </a:highlight>
              </a:rPr>
              <a:t> SR — </a:t>
            </a:r>
            <a:r>
              <a:rPr lang="en-US" dirty="0" err="1">
                <a:highlight>
                  <a:srgbClr val="FFFFFF"/>
                </a:highlight>
              </a:rPr>
              <a:t>традиційні</a:t>
            </a:r>
            <a:r>
              <a:rPr lang="en-US" dirty="0">
                <a:highlight>
                  <a:srgbClr val="FFFFFF"/>
                </a:highlight>
              </a:rPr>
              <a:t>, </a:t>
            </a:r>
            <a:r>
              <a:rPr lang="en-US" dirty="0" err="1">
                <a:highlight>
                  <a:srgbClr val="FFFFFF"/>
                </a:highlight>
              </a:rPr>
              <a:t>нейромережевий</a:t>
            </a:r>
            <a:r>
              <a:rPr lang="en-US" dirty="0">
                <a:highlight>
                  <a:srgbClr val="FFFFFF"/>
                </a:highlight>
              </a:rPr>
              <a:t>, </a:t>
            </a:r>
            <a:r>
              <a:rPr lang="en-US" dirty="0" err="1">
                <a:highlight>
                  <a:srgbClr val="FFFFFF"/>
                </a:highlight>
              </a:rPr>
              <a:t>ансамблеві</a:t>
            </a:r>
            <a:endParaRPr lang="uk-UA" dirty="0">
              <a:highlight>
                <a:srgbClr val="FFFFFF"/>
              </a:highlight>
            </a:endParaRPr>
          </a:p>
          <a:p>
            <a:pPr marL="342900" lvl="0">
              <a:spcBef>
                <a:spcPts val="1500"/>
              </a:spcBef>
              <a:buFont typeface="+mj-lt"/>
              <a:buAutoNum type="arabicPeriod"/>
            </a:pPr>
            <a:r>
              <a:rPr lang="en-US" dirty="0" err="1">
                <a:highlight>
                  <a:srgbClr val="FFFFFF"/>
                </a:highlight>
              </a:rPr>
              <a:t>Навчити</a:t>
            </a:r>
            <a:r>
              <a:rPr lang="en-US" dirty="0">
                <a:highlight>
                  <a:srgbClr val="FFFFFF"/>
                </a:highlight>
              </a:rPr>
              <a:t> SRCNN </a:t>
            </a:r>
            <a:r>
              <a:rPr lang="en-US" dirty="0" err="1">
                <a:highlight>
                  <a:srgbClr val="FFFFFF"/>
                </a:highlight>
              </a:rPr>
              <a:t>на</a:t>
            </a:r>
            <a:r>
              <a:rPr lang="en-US" dirty="0">
                <a:highlight>
                  <a:srgbClr val="FFFFFF"/>
                </a:highlight>
              </a:rPr>
              <a:t> DIV2K (800 </a:t>
            </a:r>
            <a:r>
              <a:rPr lang="en-US" dirty="0" err="1">
                <a:highlight>
                  <a:srgbClr val="FFFFFF"/>
                </a:highlight>
              </a:rPr>
              <a:t>зображень</a:t>
            </a:r>
            <a:r>
              <a:rPr lang="en-US" dirty="0">
                <a:highlight>
                  <a:srgbClr val="FFFFFF"/>
                </a:highlight>
              </a:rPr>
              <a:t>, 50 </a:t>
            </a:r>
            <a:r>
              <a:rPr lang="en-US" dirty="0" err="1">
                <a:highlight>
                  <a:srgbClr val="FFFFFF"/>
                </a:highlight>
              </a:rPr>
              <a:t>епох</a:t>
            </a:r>
            <a:r>
              <a:rPr lang="en-US" dirty="0">
                <a:highlight>
                  <a:srgbClr val="FFFFFF"/>
                </a:highlight>
              </a:rPr>
              <a:t>, Apple M4 CPU)</a:t>
            </a:r>
            <a:endParaRPr lang="uk-UA" dirty="0">
              <a:highlight>
                <a:srgbClr val="FFFFFF"/>
              </a:highlight>
            </a:endParaRPr>
          </a:p>
          <a:p>
            <a:pPr marL="342900" lvl="0">
              <a:spcBef>
                <a:spcPts val="1500"/>
              </a:spcBef>
              <a:buFont typeface="+mj-lt"/>
              <a:buAutoNum type="arabicPeriod"/>
            </a:pPr>
            <a:r>
              <a:rPr lang="en-US" dirty="0" err="1">
                <a:highlight>
                  <a:srgbClr val="FFFFFF"/>
                </a:highlight>
              </a:rPr>
              <a:t>Сформувати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тестовий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набір</a:t>
            </a:r>
            <a:r>
              <a:rPr lang="en-US" dirty="0">
                <a:highlight>
                  <a:srgbClr val="FFFFFF"/>
                </a:highlight>
              </a:rPr>
              <a:t> — 30 </a:t>
            </a:r>
            <a:r>
              <a:rPr lang="en-US" dirty="0" err="1">
                <a:highlight>
                  <a:srgbClr val="FFFFFF"/>
                </a:highlight>
              </a:rPr>
              <a:t>зображень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трьох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типів</a:t>
            </a:r>
            <a:r>
              <a:rPr lang="en-US" dirty="0">
                <a:highlight>
                  <a:srgbClr val="FFFFFF"/>
                </a:highlight>
              </a:rPr>
              <a:t> (</a:t>
            </a:r>
            <a:r>
              <a:rPr lang="en-US" dirty="0" err="1">
                <a:highlight>
                  <a:srgbClr val="FFFFFF"/>
                </a:highlight>
              </a:rPr>
              <a:t>архітектура</a:t>
            </a:r>
            <a:r>
              <a:rPr lang="en-US" dirty="0">
                <a:highlight>
                  <a:srgbClr val="FFFFFF"/>
                </a:highlight>
              </a:rPr>
              <a:t>, </a:t>
            </a:r>
            <a:r>
              <a:rPr lang="en-US" dirty="0" err="1">
                <a:highlight>
                  <a:srgbClr val="FFFFFF"/>
                </a:highlight>
              </a:rPr>
              <a:t>портрети</a:t>
            </a:r>
            <a:r>
              <a:rPr lang="en-US" dirty="0">
                <a:highlight>
                  <a:srgbClr val="FFFFFF"/>
                </a:highlight>
              </a:rPr>
              <a:t>, </a:t>
            </a:r>
            <a:r>
              <a:rPr lang="en-US" dirty="0" err="1">
                <a:highlight>
                  <a:srgbClr val="FFFFFF"/>
                </a:highlight>
              </a:rPr>
              <a:t>пейзажі</a:t>
            </a:r>
            <a:r>
              <a:rPr lang="en-US" dirty="0">
                <a:highlight>
                  <a:srgbClr val="FFFFFF"/>
                </a:highlight>
              </a:rPr>
              <a:t>) </a:t>
            </a:r>
            <a:endParaRPr lang="uk-UA" dirty="0">
              <a:highlight>
                <a:srgbClr val="FFFFFF"/>
              </a:highlight>
            </a:endParaRPr>
          </a:p>
          <a:p>
            <a:pPr marL="342900" lvl="0">
              <a:spcBef>
                <a:spcPts val="1500"/>
              </a:spcBef>
              <a:buFont typeface="+mj-lt"/>
              <a:buAutoNum type="arabicPeriod"/>
            </a:pPr>
            <a:r>
              <a:rPr lang="en-US" dirty="0" err="1">
                <a:highlight>
                  <a:srgbClr val="FFFFFF"/>
                </a:highlight>
              </a:rPr>
              <a:t>Визначити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єдиний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протокол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оцінки</a:t>
            </a:r>
            <a:r>
              <a:rPr lang="en-US" dirty="0">
                <a:highlight>
                  <a:srgbClr val="FFFFFF"/>
                </a:highlight>
              </a:rPr>
              <a:t> — HR → INTER_AREA downscale → SR → </a:t>
            </a:r>
            <a:r>
              <a:rPr lang="en-US" dirty="0" err="1">
                <a:highlight>
                  <a:srgbClr val="FFFFFF"/>
                </a:highlight>
              </a:rPr>
              <a:t>порівняння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з</a:t>
            </a:r>
            <a:r>
              <a:rPr lang="en-US" dirty="0">
                <a:highlight>
                  <a:srgbClr val="FFFFFF"/>
                </a:highlight>
              </a:rPr>
              <a:t> HR </a:t>
            </a:r>
            <a:r>
              <a:rPr lang="en-US" dirty="0" err="1">
                <a:highlight>
                  <a:srgbClr val="FFFFFF"/>
                </a:highlight>
              </a:rPr>
              <a:t>Провести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тестування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при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масштабах</a:t>
            </a:r>
            <a:r>
              <a:rPr lang="en-US" dirty="0">
                <a:highlight>
                  <a:srgbClr val="FFFFFF"/>
                </a:highlight>
              </a:rPr>
              <a:t> ×2 </a:t>
            </a:r>
            <a:r>
              <a:rPr lang="en-US" dirty="0" err="1">
                <a:highlight>
                  <a:srgbClr val="FFFFFF"/>
                </a:highlight>
              </a:rPr>
              <a:t>та</a:t>
            </a:r>
            <a:r>
              <a:rPr lang="en-US" dirty="0">
                <a:highlight>
                  <a:srgbClr val="FFFFFF"/>
                </a:highlight>
              </a:rPr>
              <a:t> ×4 </a:t>
            </a:r>
            <a:endParaRPr lang="uk-UA" dirty="0">
              <a:highlight>
                <a:srgbClr val="FFFFFF"/>
              </a:highlight>
            </a:endParaRPr>
          </a:p>
          <a:p>
            <a:pPr marL="342900" lvl="0">
              <a:spcBef>
                <a:spcPts val="1500"/>
              </a:spcBef>
              <a:buFont typeface="+mj-lt"/>
              <a:buAutoNum type="arabicPeriod"/>
            </a:pPr>
            <a:r>
              <a:rPr lang="en-US" dirty="0">
                <a:highlight>
                  <a:srgbClr val="FFFFFF"/>
                </a:highlight>
              </a:rPr>
              <a:t>Порівняти </a:t>
            </a:r>
            <a:r>
              <a:rPr lang="en-US" dirty="0" err="1">
                <a:highlight>
                  <a:srgbClr val="FFFFFF"/>
                </a:highlight>
              </a:rPr>
              <a:t>за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метриками</a:t>
            </a:r>
            <a:r>
              <a:rPr lang="en-US" dirty="0">
                <a:highlight>
                  <a:srgbClr val="FFFFFF"/>
                </a:highlight>
              </a:rPr>
              <a:t>: PSNR · SSIM · LPIPS · MSE · MAE · </a:t>
            </a:r>
            <a:r>
              <a:rPr lang="en-US" dirty="0" err="1">
                <a:highlight>
                  <a:srgbClr val="FFFFFF"/>
                </a:highlight>
              </a:rPr>
              <a:t>час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обробки</a:t>
            </a:r>
            <a:r>
              <a:rPr lang="en-US" dirty="0">
                <a:highlight>
                  <a:srgbClr val="FFFFFF"/>
                </a:highlight>
              </a:rPr>
              <a:t> </a:t>
            </a:r>
            <a:endParaRPr lang="uk-UA" dirty="0">
              <a:highlight>
                <a:srgbClr val="FFFFFF"/>
              </a:highlight>
            </a:endParaRPr>
          </a:p>
          <a:p>
            <a:pPr marL="342900" lvl="0">
              <a:spcBef>
                <a:spcPts val="1500"/>
              </a:spcBef>
              <a:buFont typeface="+mj-lt"/>
              <a:buAutoNum type="arabicPeriod"/>
            </a:pPr>
            <a:r>
              <a:rPr lang="en-US" dirty="0" err="1">
                <a:highlight>
                  <a:srgbClr val="FFFFFF"/>
                </a:highlight>
              </a:rPr>
              <a:t>Розробити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веб-застосунок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для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інтерактивної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демонстрації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результатів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896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sz="3200" dirty="0" err="1"/>
              <a:t>Налаштування</a:t>
            </a:r>
            <a:r>
              <a:rPr lang="en-US" sz="3200" dirty="0"/>
              <a:t> </a:t>
            </a:r>
            <a:r>
              <a:rPr lang="en-US" sz="3200" dirty="0" err="1"/>
              <a:t>середовища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82233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342900" lvl="0">
              <a:spcBef>
                <a:spcPts val="1500"/>
              </a:spcBef>
              <a:buFont typeface="+mj-lt"/>
              <a:buAutoNum type="arabicPeriod"/>
            </a:pPr>
            <a:r>
              <a:rPr lang="en-US" dirty="0" err="1">
                <a:highlight>
                  <a:srgbClr val="FFFFFF"/>
                </a:highlight>
              </a:rPr>
              <a:t>Встановлено</a:t>
            </a:r>
            <a:r>
              <a:rPr lang="en-US" dirty="0">
                <a:highlight>
                  <a:srgbClr val="FFFFFF"/>
                </a:highlight>
              </a:rPr>
              <a:t> Python 3.13 </a:t>
            </a:r>
            <a:r>
              <a:rPr lang="en-US" dirty="0" err="1">
                <a:highlight>
                  <a:srgbClr val="FFFFFF"/>
                </a:highlight>
              </a:rPr>
              <a:t>та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залежності</a:t>
            </a:r>
            <a:r>
              <a:rPr lang="en-US" dirty="0">
                <a:highlight>
                  <a:srgbClr val="FFFFFF"/>
                </a:highlight>
              </a:rPr>
              <a:t>: </a:t>
            </a:r>
            <a:r>
              <a:rPr lang="en-US" dirty="0" err="1">
                <a:highlight>
                  <a:srgbClr val="FFFFFF"/>
                </a:highlight>
              </a:rPr>
              <a:t>opencv</a:t>
            </a:r>
            <a:r>
              <a:rPr lang="en-US" dirty="0">
                <a:highlight>
                  <a:srgbClr val="FFFFFF"/>
                </a:highlight>
              </a:rPr>
              <a:t>-python, </a:t>
            </a:r>
            <a:r>
              <a:rPr lang="en-US" dirty="0" err="1">
                <a:highlight>
                  <a:srgbClr val="FFFFFF"/>
                </a:highlight>
              </a:rPr>
              <a:t>numpy</a:t>
            </a:r>
            <a:r>
              <a:rPr lang="en-US" dirty="0">
                <a:highlight>
                  <a:srgbClr val="FFFFFF"/>
                </a:highlight>
              </a:rPr>
              <a:t>, torch, </a:t>
            </a:r>
            <a:r>
              <a:rPr lang="en-US" dirty="0" err="1">
                <a:highlight>
                  <a:srgbClr val="FFFFFF"/>
                </a:highlight>
              </a:rPr>
              <a:t>torchvision</a:t>
            </a:r>
            <a:r>
              <a:rPr lang="en-US" dirty="0">
                <a:highlight>
                  <a:srgbClr val="FFFFFF"/>
                </a:highlight>
              </a:rPr>
              <a:t>, scikit-image, flask, flask-</a:t>
            </a:r>
            <a:r>
              <a:rPr lang="en-US" dirty="0" err="1">
                <a:highlight>
                  <a:srgbClr val="FFFFFF"/>
                </a:highlight>
              </a:rPr>
              <a:t>cors</a:t>
            </a:r>
            <a:r>
              <a:rPr lang="en-US" dirty="0">
                <a:highlight>
                  <a:srgbClr val="FFFFFF"/>
                </a:highlight>
              </a:rPr>
              <a:t> </a:t>
            </a:r>
            <a:endParaRPr lang="uk-UA" dirty="0">
              <a:highlight>
                <a:srgbClr val="FFFFFF"/>
              </a:highlight>
            </a:endParaRPr>
          </a:p>
          <a:p>
            <a:pPr marL="342900" lvl="0">
              <a:spcBef>
                <a:spcPts val="1500"/>
              </a:spcBef>
              <a:buFont typeface="+mj-lt"/>
              <a:buAutoNum type="arabicPeriod"/>
            </a:pPr>
            <a:r>
              <a:rPr lang="en-US" dirty="0">
                <a:highlight>
                  <a:srgbClr val="FFFFFF"/>
                </a:highlight>
              </a:rPr>
              <a:t>Підготовлено </a:t>
            </a:r>
            <a:r>
              <a:rPr lang="en-US" dirty="0" err="1">
                <a:highlight>
                  <a:srgbClr val="FFFFFF"/>
                </a:highlight>
              </a:rPr>
              <a:t>датасет</a:t>
            </a:r>
            <a:r>
              <a:rPr lang="en-US" dirty="0">
                <a:highlight>
                  <a:srgbClr val="FFFFFF"/>
                </a:highlight>
              </a:rPr>
              <a:t> DIV2K: 800 HR </a:t>
            </a:r>
            <a:r>
              <a:rPr lang="en-US" dirty="0" err="1">
                <a:highlight>
                  <a:srgbClr val="FFFFFF"/>
                </a:highlight>
              </a:rPr>
              <a:t>зображень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для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навчання</a:t>
            </a:r>
            <a:r>
              <a:rPr lang="en-US" dirty="0">
                <a:highlight>
                  <a:srgbClr val="FFFFFF"/>
                </a:highlight>
              </a:rPr>
              <a:t> SRCNN </a:t>
            </a:r>
            <a:endParaRPr lang="uk-UA" dirty="0">
              <a:highlight>
                <a:srgbClr val="FFFFFF"/>
              </a:highlight>
            </a:endParaRPr>
          </a:p>
          <a:p>
            <a:pPr marL="342900" lvl="0">
              <a:spcBef>
                <a:spcPts val="1500"/>
              </a:spcBef>
              <a:buFont typeface="+mj-lt"/>
              <a:buAutoNum type="arabicPeriod"/>
            </a:pPr>
            <a:r>
              <a:rPr lang="en-US" dirty="0" err="1">
                <a:highlight>
                  <a:srgbClr val="FFFFFF"/>
                </a:highlight>
              </a:rPr>
              <a:t>Навчено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модель</a:t>
            </a:r>
            <a:r>
              <a:rPr lang="en-US" dirty="0">
                <a:highlight>
                  <a:srgbClr val="FFFFFF"/>
                </a:highlight>
              </a:rPr>
              <a:t> SRCNN: 752 </a:t>
            </a:r>
            <a:r>
              <a:rPr lang="en-US" dirty="0" err="1">
                <a:highlight>
                  <a:srgbClr val="FFFFFF"/>
                </a:highlight>
              </a:rPr>
              <a:t>епохи</a:t>
            </a:r>
            <a:r>
              <a:rPr lang="en-US" dirty="0">
                <a:highlight>
                  <a:srgbClr val="FFFFFF"/>
                </a:highlight>
              </a:rPr>
              <a:t> · batch=16 · Adam </a:t>
            </a:r>
            <a:r>
              <a:rPr lang="en-US" dirty="0" err="1">
                <a:highlight>
                  <a:srgbClr val="FFFFFF"/>
                </a:highlight>
              </a:rPr>
              <a:t>lr</a:t>
            </a:r>
            <a:r>
              <a:rPr lang="en-US" dirty="0">
                <a:highlight>
                  <a:srgbClr val="FFFFFF"/>
                </a:highlight>
              </a:rPr>
              <a:t>=0.001 · MSE loss · ~</a:t>
            </a:r>
            <a:r>
              <a:rPr lang="uk-UA" dirty="0">
                <a:highlight>
                  <a:srgbClr val="FFFFFF"/>
                </a:highlight>
              </a:rPr>
              <a:t>8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год</a:t>
            </a:r>
            <a:r>
              <a:rPr lang="en-US" dirty="0">
                <a:highlight>
                  <a:srgbClr val="FFFFFF"/>
                </a:highlight>
              </a:rPr>
              <a:t> (CPU M4) · </a:t>
            </a:r>
            <a:r>
              <a:rPr lang="en-US" dirty="0" err="1">
                <a:highlight>
                  <a:srgbClr val="FFFFFF"/>
                </a:highlight>
              </a:rPr>
              <a:t>збережено</a:t>
            </a:r>
            <a:r>
              <a:rPr lang="en-US" dirty="0">
                <a:highlight>
                  <a:srgbClr val="FFFFFF"/>
                </a:highlight>
              </a:rPr>
              <a:t>: </a:t>
            </a:r>
            <a:r>
              <a:rPr lang="en-US" dirty="0" err="1">
                <a:highlight>
                  <a:srgbClr val="FFFFFF"/>
                </a:highlight>
              </a:rPr>
              <a:t>srcnn_trained.pth</a:t>
            </a:r>
            <a:r>
              <a:rPr lang="en-US" dirty="0">
                <a:highlight>
                  <a:srgbClr val="FFFFFF"/>
                </a:highlight>
              </a:rPr>
              <a:t> </a:t>
            </a:r>
            <a:endParaRPr lang="uk-UA" dirty="0">
              <a:highlight>
                <a:srgbClr val="FFFFFF"/>
              </a:highlight>
            </a:endParaRPr>
          </a:p>
          <a:p>
            <a:pPr marL="342900" lvl="0">
              <a:spcBef>
                <a:spcPts val="1500"/>
              </a:spcBef>
              <a:buFont typeface="+mj-lt"/>
              <a:buAutoNum type="arabicPeriod"/>
            </a:pPr>
            <a:r>
              <a:rPr lang="en-US" dirty="0" err="1">
                <a:highlight>
                  <a:srgbClr val="FFFFFF"/>
                </a:highlight>
              </a:rPr>
              <a:t>Реалізовано</a:t>
            </a:r>
            <a:r>
              <a:rPr lang="en-US" dirty="0">
                <a:highlight>
                  <a:srgbClr val="FFFFFF"/>
                </a:highlight>
              </a:rPr>
              <a:t> React UI (Vite)</a:t>
            </a:r>
            <a:r>
              <a:rPr lang="uk-UA" dirty="0">
                <a:highlight>
                  <a:srgbClr val="FFFFFF"/>
                </a:highlight>
              </a:rPr>
              <a:t> і </a:t>
            </a:r>
            <a:r>
              <a:rPr lang="en-US" dirty="0">
                <a:highlight>
                  <a:srgbClr val="FFFFFF"/>
                </a:highlight>
              </a:rPr>
              <a:t>Flask API: python </a:t>
            </a:r>
            <a:r>
              <a:rPr lang="en-US" dirty="0" err="1">
                <a:highlight>
                  <a:srgbClr val="FFFFFF"/>
                </a:highlight>
              </a:rPr>
              <a:t>app.py</a:t>
            </a:r>
            <a:r>
              <a:rPr lang="en-US" dirty="0">
                <a:highlight>
                  <a:srgbClr val="FFFFFF"/>
                </a:highlight>
              </a:rPr>
              <a:t> </a:t>
            </a:r>
            <a:endParaRPr lang="uk-UA" dirty="0">
              <a:highlight>
                <a:srgbClr val="FFFFFF"/>
              </a:highlight>
            </a:endParaRPr>
          </a:p>
          <a:p>
            <a:pPr marL="342900" lvl="0">
              <a:spcBef>
                <a:spcPts val="1500"/>
              </a:spcBef>
              <a:buFont typeface="+mj-lt"/>
              <a:buAutoNum type="arabicPeriod"/>
            </a:pPr>
            <a:r>
              <a:rPr lang="en-US" dirty="0">
                <a:highlight>
                  <a:srgbClr val="FFFFFF"/>
                </a:highlight>
              </a:rPr>
              <a:t>Структура </a:t>
            </a:r>
            <a:r>
              <a:rPr lang="en-US" dirty="0" err="1">
                <a:highlight>
                  <a:srgbClr val="FFFFFF"/>
                </a:highlight>
              </a:rPr>
              <a:t>проєкту</a:t>
            </a:r>
            <a:r>
              <a:rPr lang="en-US" dirty="0">
                <a:highlight>
                  <a:srgbClr val="FFFFFF"/>
                </a:highlight>
              </a:rPr>
              <a:t>: </a:t>
            </a:r>
            <a:r>
              <a:rPr lang="en-US" dirty="0" err="1">
                <a:highlight>
                  <a:srgbClr val="FFFFFF"/>
                </a:highlight>
              </a:rPr>
              <a:t>traditional_methods.py</a:t>
            </a:r>
            <a:r>
              <a:rPr lang="en-US" dirty="0">
                <a:highlight>
                  <a:srgbClr val="FFFFFF"/>
                </a:highlight>
              </a:rPr>
              <a:t> · </a:t>
            </a:r>
            <a:r>
              <a:rPr lang="en-US" dirty="0" err="1">
                <a:highlight>
                  <a:srgbClr val="FFFFFF"/>
                </a:highlight>
              </a:rPr>
              <a:t>ensemble_methods.py</a:t>
            </a:r>
            <a:r>
              <a:rPr lang="en-US" dirty="0">
                <a:highlight>
                  <a:srgbClr val="FFFFFF"/>
                </a:highlight>
              </a:rPr>
              <a:t> · </a:t>
            </a:r>
            <a:r>
              <a:rPr lang="en-US" dirty="0" err="1">
                <a:highlight>
                  <a:srgbClr val="FFFFFF"/>
                </a:highlight>
              </a:rPr>
              <a:t>models.py</a:t>
            </a:r>
            <a:r>
              <a:rPr lang="en-US" dirty="0">
                <a:highlight>
                  <a:srgbClr val="FFFFFF"/>
                </a:highlight>
              </a:rPr>
              <a:t> · </a:t>
            </a:r>
            <a:r>
              <a:rPr lang="en-US" dirty="0" err="1">
                <a:highlight>
                  <a:srgbClr val="FFFFFF"/>
                </a:highlight>
              </a:rPr>
              <a:t>evaluation.py</a:t>
            </a:r>
            <a:r>
              <a:rPr lang="en-US" dirty="0">
                <a:highlight>
                  <a:srgbClr val="FFFFFF"/>
                </a:highlight>
              </a:rPr>
              <a:t> · </a:t>
            </a:r>
            <a:r>
              <a:rPr lang="en-US" dirty="0" err="1">
                <a:highlight>
                  <a:srgbClr val="FFFFFF"/>
                </a:highlight>
              </a:rPr>
              <a:t>sr-vite</a:t>
            </a:r>
            <a:r>
              <a:rPr lang="en-US" dirty="0">
                <a:highlight>
                  <a:srgbClr val="FFFFFF"/>
                </a:highlight>
              </a:rPr>
              <a:t>/ · </a:t>
            </a:r>
            <a:r>
              <a:rPr lang="en-US" dirty="0" err="1">
                <a:highlight>
                  <a:srgbClr val="FFFFFF"/>
                </a:highlight>
              </a:rPr>
              <a:t>sr</a:t>
            </a:r>
            <a:r>
              <a:rPr lang="en-US" dirty="0">
                <a:highlight>
                  <a:srgbClr val="FFFFFF"/>
                </a:highlight>
              </a:rPr>
              <a:t>-lab-</a:t>
            </a:r>
            <a:r>
              <a:rPr lang="en-US" dirty="0" err="1">
                <a:highlight>
                  <a:srgbClr val="FFFFFF"/>
                </a:highlight>
              </a:rPr>
              <a:t>api</a:t>
            </a:r>
            <a:r>
              <a:rPr lang="en-US" dirty="0">
                <a:highlight>
                  <a:srgbClr val="FFFFFF"/>
                </a:highlight>
              </a:rPr>
              <a:t>/</a:t>
            </a: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63972" y="1355833"/>
            <a:ext cx="3246787" cy="11587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 algn="ctr"/>
            <a:r>
              <a:rPr lang="uk-UA" sz="3200" dirty="0"/>
              <a:t>Схема проведення експерименту</a:t>
            </a:r>
            <a:endParaRPr sz="3200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DDB213-0E9D-FEA4-FFEC-CF7DE2AF2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828" y="93962"/>
            <a:ext cx="4747522" cy="47358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1203760-3217-BEF1-F6D7-2FBDB2B9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B4068A7-8F54-3E23-5305-75E3DFA8BD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279" y="-31076"/>
            <a:ext cx="4433721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uk-UA" sz="3200" dirty="0"/>
              <a:t>Порівняння </a:t>
            </a:r>
            <a:r>
              <a:rPr lang="en-US" sz="3200" dirty="0"/>
              <a:t>×2</a:t>
            </a:r>
            <a:r>
              <a:rPr lang="uk-UA" sz="3200" dirty="0"/>
              <a:t> масштабі</a:t>
            </a:r>
            <a:endParaRPr sz="320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A54AFAE7-BE99-2A08-899B-DCC8920CCC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2B0CA2-F9DD-019C-C381-B72FD49FBC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B43DE3-5304-8B2D-AD3E-92EA1E520C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719" b="23896"/>
          <a:stretch>
            <a:fillRect/>
          </a:stretch>
        </p:blipFill>
        <p:spPr>
          <a:xfrm>
            <a:off x="4363735" y="384574"/>
            <a:ext cx="4701761" cy="1861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F77D29-F74D-7AA8-D057-6BBF6E481D77}"/>
              </a:ext>
            </a:extLst>
          </p:cNvPr>
          <p:cNvSpPr txBox="1"/>
          <p:nvPr/>
        </p:nvSpPr>
        <p:spPr>
          <a:xfrm>
            <a:off x="4477407" y="76797"/>
            <a:ext cx="149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Архітектура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EBF76D-FC90-533F-EE61-2A967EDE85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54" r="19556" b="3905"/>
          <a:stretch>
            <a:fillRect/>
          </a:stretch>
        </p:blipFill>
        <p:spPr>
          <a:xfrm>
            <a:off x="4393837" y="2729444"/>
            <a:ext cx="4641558" cy="20294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1772CD-69B0-AF8D-5535-0CBB0F5F1FBC}"/>
              </a:ext>
            </a:extLst>
          </p:cNvPr>
          <p:cNvSpPr txBox="1"/>
          <p:nvPr/>
        </p:nvSpPr>
        <p:spPr>
          <a:xfrm>
            <a:off x="4447631" y="2333784"/>
            <a:ext cx="45877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Портрети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FD39FD-01A6-47EF-E057-AEECFCEB32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1216"/>
          <a:stretch>
            <a:fillRect/>
          </a:stretch>
        </p:blipFill>
        <p:spPr>
          <a:xfrm>
            <a:off x="81707" y="1602621"/>
            <a:ext cx="4214395" cy="19407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BB9DD6-7F72-67A7-C6D6-37DED3510F00}"/>
              </a:ext>
            </a:extLst>
          </p:cNvPr>
          <p:cNvSpPr txBox="1"/>
          <p:nvPr/>
        </p:nvSpPr>
        <p:spPr>
          <a:xfrm>
            <a:off x="138279" y="1161349"/>
            <a:ext cx="149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Пейзажі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55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85F6E0DE-D8F8-8DB9-24F6-3E14E460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CDDF1B59-E882-DE5B-5D39-729D907ADC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372" y="214198"/>
            <a:ext cx="4433721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uk-UA" sz="3200" dirty="0"/>
              <a:t>Порівняння </a:t>
            </a:r>
            <a:r>
              <a:rPr lang="en-US" sz="3200" dirty="0"/>
              <a:t>×</a:t>
            </a:r>
            <a:r>
              <a:rPr lang="uk-UA" sz="3200" dirty="0"/>
              <a:t>4 масштабі</a:t>
            </a:r>
            <a:endParaRPr sz="320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109C2F84-EA9E-9227-CF59-52FE3DDF1E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81D3A6-B426-D323-1D98-34E24E4A60BC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650B1-2860-22CE-7C1E-46FD8763AAF3}"/>
              </a:ext>
            </a:extLst>
          </p:cNvPr>
          <p:cNvSpPr txBox="1"/>
          <p:nvPr/>
        </p:nvSpPr>
        <p:spPr>
          <a:xfrm>
            <a:off x="4477407" y="76797"/>
            <a:ext cx="149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Архітектура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FDB3A-8AD3-3035-ED4C-2154AF2BE3BB}"/>
              </a:ext>
            </a:extLst>
          </p:cNvPr>
          <p:cNvSpPr txBox="1"/>
          <p:nvPr/>
        </p:nvSpPr>
        <p:spPr>
          <a:xfrm>
            <a:off x="4447631" y="2333784"/>
            <a:ext cx="45877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Портрети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F87FD8-CD74-8933-6AF4-250071764E8D}"/>
              </a:ext>
            </a:extLst>
          </p:cNvPr>
          <p:cNvSpPr txBox="1"/>
          <p:nvPr/>
        </p:nvSpPr>
        <p:spPr>
          <a:xfrm>
            <a:off x="138279" y="1161349"/>
            <a:ext cx="149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Пейзажі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1E3AE7-2725-8CE3-6F86-928A560343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715"/>
          <a:stretch>
            <a:fillRect/>
          </a:stretch>
        </p:blipFill>
        <p:spPr>
          <a:xfrm>
            <a:off x="4411158" y="296011"/>
            <a:ext cx="4660709" cy="2029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FB623A-C34D-B374-7CD0-9DF3AACF3C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2" r="21848"/>
          <a:stretch>
            <a:fillRect/>
          </a:stretch>
        </p:blipFill>
        <p:spPr>
          <a:xfrm>
            <a:off x="4474528" y="2608979"/>
            <a:ext cx="4587764" cy="21512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0D0158-CFAC-74FA-4451-0DB60D7FC20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0183"/>
          <a:stretch>
            <a:fillRect/>
          </a:stretch>
        </p:blipFill>
        <p:spPr>
          <a:xfrm>
            <a:off x="176053" y="1525059"/>
            <a:ext cx="4146180" cy="180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84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53F504C8-AA4E-B254-6CBB-282018011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B7984D93-1F17-C701-FB7A-DED91914E9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514" y="1638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 err="1"/>
              <a:t>Порівняня</a:t>
            </a:r>
            <a:endParaRPr sz="320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13D9A249-6AA1-138B-E22C-39A14A8B55A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11997F-967A-3371-9FAD-9AC1999CF79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E007DA-730E-B998-C452-AF8E69838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988322"/>
              </p:ext>
            </p:extLst>
          </p:nvPr>
        </p:nvGraphicFramePr>
        <p:xfrm>
          <a:off x="268925" y="1173280"/>
          <a:ext cx="609600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583831482"/>
                    </a:ext>
                  </a:extLst>
                </a:gridCol>
                <a:gridCol w="1470537">
                  <a:extLst>
                    <a:ext uri="{9D8B030D-6E8A-4147-A177-3AD203B41FA5}">
                      <a16:colId xmlns:a16="http://schemas.microsoft.com/office/drawing/2014/main" val="427978164"/>
                    </a:ext>
                  </a:extLst>
                </a:gridCol>
                <a:gridCol w="1577463">
                  <a:extLst>
                    <a:ext uri="{9D8B030D-6E8A-4147-A177-3AD203B41FA5}">
                      <a16:colId xmlns:a16="http://schemas.microsoft.com/office/drawing/2014/main" val="336418481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4454705"/>
                    </a:ext>
                  </a:extLst>
                </a:gridCol>
              </a:tblGrid>
              <a:tr h="33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Тип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Найкращий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PSNR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Різниця </a:t>
                      </a:r>
                      <a:r>
                        <a:rPr lang="en-US" dirty="0" err="1"/>
                        <a:t>між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методами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250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Архітектура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Cascade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25.26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0.11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6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Портрети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Lanczos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33.15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0.67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877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Пейзажі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Lanczos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28.62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0.44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930870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58C89B-02C7-1ECB-514F-B59DDC8FD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71365"/>
              </p:ext>
            </p:extLst>
          </p:nvPr>
        </p:nvGraphicFramePr>
        <p:xfrm>
          <a:off x="2824266" y="3129557"/>
          <a:ext cx="609600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74683807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6752347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85535767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64611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Тип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Найкращий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PSNR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Різниця між методами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702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Архітектура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SRCNN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22.41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0.12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593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Портрети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Lanczos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27.66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0.22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819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Пейзажі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Weighted 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27.74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0.14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5369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640253E-7E16-6EE4-5162-4B862F2A2E31}"/>
              </a:ext>
            </a:extLst>
          </p:cNvPr>
          <p:cNvSpPr txBox="1"/>
          <p:nvPr/>
        </p:nvSpPr>
        <p:spPr>
          <a:xfrm>
            <a:off x="268925" y="847683"/>
            <a:ext cx="45877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×2 </a:t>
            </a:r>
            <a:r>
              <a:rPr lang="en-US" b="1" dirty="0" err="1"/>
              <a:t>результати</a:t>
            </a:r>
            <a:r>
              <a:rPr lang="en-US" b="1" dirty="0"/>
              <a:t>: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4FE72-A5D4-08B6-56A2-623ADE0AA313}"/>
              </a:ext>
            </a:extLst>
          </p:cNvPr>
          <p:cNvSpPr txBox="1"/>
          <p:nvPr/>
        </p:nvSpPr>
        <p:spPr>
          <a:xfrm>
            <a:off x="2824266" y="2803960"/>
            <a:ext cx="4603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×4 </a:t>
            </a:r>
            <a:r>
              <a:rPr lang="en-US" b="1" dirty="0" err="1"/>
              <a:t>результати</a:t>
            </a:r>
            <a:r>
              <a:rPr lang="en-US" b="1" dirty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740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Висновки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894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en-US" b="1" dirty="0"/>
              <a:t>1.</a:t>
            </a:r>
            <a:r>
              <a:rPr lang="en-US" dirty="0"/>
              <a:t> </a:t>
            </a:r>
            <a:r>
              <a:rPr lang="en-US" dirty="0" err="1"/>
              <a:t>Реалізовано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досліджено</a:t>
            </a:r>
            <a:r>
              <a:rPr lang="en-US" dirty="0"/>
              <a:t> 9 </a:t>
            </a:r>
            <a:r>
              <a:rPr lang="en-US" dirty="0" err="1"/>
              <a:t>методів</a:t>
            </a:r>
            <a:r>
              <a:rPr lang="en-US" dirty="0"/>
              <a:t> SR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єдиному</a:t>
            </a:r>
            <a:r>
              <a:rPr lang="en-US" dirty="0"/>
              <a:t> pipeline — </a:t>
            </a:r>
            <a:r>
              <a:rPr lang="en-US" dirty="0" err="1"/>
              <a:t>традиційні</a:t>
            </a:r>
            <a:r>
              <a:rPr lang="en-US" dirty="0"/>
              <a:t>, </a:t>
            </a:r>
            <a:r>
              <a:rPr lang="en-US" dirty="0" err="1"/>
              <a:t>нейромережевий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ансамблеві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dirty="0" err="1"/>
              <a:t>Проведено</a:t>
            </a:r>
            <a:r>
              <a:rPr lang="en-US" dirty="0"/>
              <a:t> </a:t>
            </a:r>
            <a:r>
              <a:rPr lang="en-US" dirty="0" err="1"/>
              <a:t>експеримент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30 </a:t>
            </a:r>
            <a:r>
              <a:rPr lang="en-US" dirty="0" err="1"/>
              <a:t>зображеннях</a:t>
            </a:r>
            <a:r>
              <a:rPr lang="en-US" dirty="0"/>
              <a:t> </a:t>
            </a:r>
            <a:r>
              <a:rPr lang="en-US" dirty="0" err="1"/>
              <a:t>трьох</a:t>
            </a:r>
            <a:r>
              <a:rPr lang="en-US" dirty="0"/>
              <a:t> </a:t>
            </a:r>
            <a:r>
              <a:rPr lang="en-US" dirty="0" err="1"/>
              <a:t>типів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масштабах</a:t>
            </a:r>
            <a:r>
              <a:rPr lang="en-US" dirty="0"/>
              <a:t> ×2 </a:t>
            </a:r>
            <a:r>
              <a:rPr lang="en-US" dirty="0" err="1"/>
              <a:t>та</a:t>
            </a:r>
            <a:r>
              <a:rPr lang="en-US" dirty="0"/>
              <a:t> ×4</a:t>
            </a:r>
          </a:p>
          <a:p>
            <a:pPr marL="114300" indent="0">
              <a:buNone/>
            </a:pPr>
            <a:r>
              <a:rPr lang="en-US" b="1" dirty="0"/>
              <a:t>3.</a:t>
            </a:r>
            <a:r>
              <a:rPr lang="en-US" dirty="0"/>
              <a:t> Тип </a:t>
            </a:r>
            <a:r>
              <a:rPr lang="en-US" dirty="0" err="1"/>
              <a:t>зображення</a:t>
            </a:r>
            <a:r>
              <a:rPr lang="en-US" dirty="0"/>
              <a:t> </a:t>
            </a:r>
            <a:r>
              <a:rPr lang="en-US" dirty="0" err="1"/>
              <a:t>впливає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якість</a:t>
            </a:r>
            <a:r>
              <a:rPr lang="en-US" dirty="0"/>
              <a:t> </a:t>
            </a:r>
            <a:r>
              <a:rPr lang="en-US" dirty="0" err="1"/>
              <a:t>відновлення</a:t>
            </a:r>
            <a:r>
              <a:rPr lang="en-US" dirty="0"/>
              <a:t> </a:t>
            </a:r>
            <a:r>
              <a:rPr lang="en-US" dirty="0" err="1"/>
              <a:t>більше</a:t>
            </a:r>
            <a:r>
              <a:rPr lang="en-US" dirty="0"/>
              <a:t> </a:t>
            </a:r>
            <a:r>
              <a:rPr lang="en-US" dirty="0" err="1"/>
              <a:t>ніж</a:t>
            </a:r>
            <a:r>
              <a:rPr lang="en-US" dirty="0"/>
              <a:t> </a:t>
            </a:r>
            <a:r>
              <a:rPr lang="en-US" dirty="0" err="1"/>
              <a:t>вибір</a:t>
            </a:r>
            <a:r>
              <a:rPr lang="en-US" dirty="0"/>
              <a:t> </a:t>
            </a:r>
            <a:r>
              <a:rPr lang="en-US" dirty="0" err="1"/>
              <a:t>методу</a:t>
            </a:r>
            <a:r>
              <a:rPr lang="en-US" dirty="0"/>
              <a:t> — </a:t>
            </a:r>
            <a:r>
              <a:rPr lang="en-US" dirty="0" err="1"/>
              <a:t>різниця</a:t>
            </a:r>
            <a:r>
              <a:rPr lang="en-US" dirty="0"/>
              <a:t> </a:t>
            </a:r>
            <a:r>
              <a:rPr lang="en-US" dirty="0" err="1"/>
              <a:t>між</a:t>
            </a:r>
            <a:r>
              <a:rPr lang="en-US" dirty="0"/>
              <a:t> </a:t>
            </a:r>
            <a:r>
              <a:rPr lang="en-US" dirty="0" err="1"/>
              <a:t>типами</a:t>
            </a:r>
            <a:r>
              <a:rPr lang="en-US" dirty="0"/>
              <a:t> 8 dB </a:t>
            </a:r>
            <a:r>
              <a:rPr lang="en-US" dirty="0" err="1"/>
              <a:t>проти</a:t>
            </a:r>
            <a:r>
              <a:rPr lang="en-US" dirty="0"/>
              <a:t> 0.67 dB </a:t>
            </a:r>
            <a:r>
              <a:rPr lang="en-US" dirty="0" err="1"/>
              <a:t>між</a:t>
            </a:r>
            <a:r>
              <a:rPr lang="en-US" dirty="0"/>
              <a:t> </a:t>
            </a:r>
            <a:r>
              <a:rPr lang="en-US" dirty="0" err="1"/>
              <a:t>методами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4.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×2 Lanczos </a:t>
            </a:r>
            <a:r>
              <a:rPr lang="en-US" dirty="0" err="1"/>
              <a:t>найкращий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портретах</a:t>
            </a:r>
            <a:r>
              <a:rPr lang="en-US" dirty="0"/>
              <a:t> </a:t>
            </a:r>
            <a:r>
              <a:rPr lang="en-US" dirty="0" err="1"/>
              <a:t>і</a:t>
            </a:r>
            <a:r>
              <a:rPr lang="en-US" dirty="0"/>
              <a:t> </a:t>
            </a:r>
            <a:r>
              <a:rPr lang="en-US" dirty="0" err="1"/>
              <a:t>пейзажах</a:t>
            </a:r>
            <a:r>
              <a:rPr lang="en-US" dirty="0"/>
              <a:t> — </a:t>
            </a:r>
            <a:r>
              <a:rPr lang="en-US" dirty="0" err="1"/>
              <a:t>нейромережа</a:t>
            </a:r>
            <a:r>
              <a:rPr lang="en-US" dirty="0"/>
              <a:t> </a:t>
            </a:r>
            <a:r>
              <a:rPr lang="en-US" dirty="0" err="1"/>
              <a:t>поступається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обмежене</a:t>
            </a:r>
            <a:r>
              <a:rPr lang="en-US" dirty="0"/>
              <a:t> </a:t>
            </a:r>
            <a:r>
              <a:rPr lang="en-US" dirty="0" err="1"/>
              <a:t>навчання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</a:t>
            </a:r>
          </a:p>
          <a:p>
            <a:pPr marL="114300" indent="0">
              <a:buNone/>
            </a:pPr>
            <a:r>
              <a:rPr lang="en-US" b="1" dirty="0"/>
              <a:t>5.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×4 SRCNN </a:t>
            </a:r>
            <a:r>
              <a:rPr lang="en-US" dirty="0" err="1"/>
              <a:t>наздоганяє</a:t>
            </a:r>
            <a:r>
              <a:rPr lang="en-US" dirty="0"/>
              <a:t> </a:t>
            </a:r>
            <a:r>
              <a:rPr lang="en-US" dirty="0" err="1"/>
              <a:t>традиційні</a:t>
            </a:r>
            <a:r>
              <a:rPr lang="en-US" dirty="0"/>
              <a:t> </a:t>
            </a:r>
            <a:r>
              <a:rPr lang="en-US" dirty="0" err="1"/>
              <a:t>методи</a:t>
            </a:r>
            <a:r>
              <a:rPr lang="en-US" dirty="0"/>
              <a:t> —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складнішій</a:t>
            </a:r>
            <a:r>
              <a:rPr lang="en-US" dirty="0"/>
              <a:t> </a:t>
            </a:r>
            <a:r>
              <a:rPr lang="en-US" dirty="0" err="1"/>
              <a:t>задачі</a:t>
            </a:r>
            <a:r>
              <a:rPr lang="en-US" dirty="0"/>
              <a:t> </a:t>
            </a:r>
            <a:r>
              <a:rPr lang="en-US" dirty="0" err="1"/>
              <a:t>здатність</a:t>
            </a:r>
            <a:r>
              <a:rPr lang="en-US" dirty="0"/>
              <a:t> </a:t>
            </a:r>
            <a:r>
              <a:rPr lang="en-US" dirty="0" err="1"/>
              <a:t>нейромережі</a:t>
            </a:r>
            <a:r>
              <a:rPr lang="en-US" dirty="0"/>
              <a:t> </a:t>
            </a:r>
            <a:r>
              <a:rPr lang="en-US" dirty="0" err="1"/>
              <a:t>відновлювати</a:t>
            </a:r>
            <a:r>
              <a:rPr lang="en-US" dirty="0"/>
              <a:t> </a:t>
            </a:r>
            <a:r>
              <a:rPr lang="en-US" dirty="0" err="1"/>
              <a:t>патерни</a:t>
            </a:r>
            <a:r>
              <a:rPr lang="en-US" dirty="0"/>
              <a:t> </a:t>
            </a:r>
            <a:r>
              <a:rPr lang="en-US" dirty="0" err="1"/>
              <a:t>стає</a:t>
            </a:r>
            <a:r>
              <a:rPr lang="en-US" dirty="0"/>
              <a:t> </a:t>
            </a:r>
            <a:r>
              <a:rPr lang="en-US" dirty="0" err="1"/>
              <a:t>важливішою</a:t>
            </a:r>
            <a:endParaRPr lang="en-US" dirty="0"/>
          </a:p>
          <a:p>
            <a:pPr marL="114300" indent="0">
              <a:buNone/>
            </a:pPr>
            <a:r>
              <a:rPr lang="en-US" b="1" dirty="0"/>
              <a:t>7.</a:t>
            </a:r>
            <a:r>
              <a:rPr lang="en-US" dirty="0"/>
              <a:t> </a:t>
            </a:r>
            <a:r>
              <a:rPr lang="en-US" dirty="0" err="1"/>
              <a:t>Розроблено</a:t>
            </a:r>
            <a:r>
              <a:rPr lang="en-US" dirty="0"/>
              <a:t> </a:t>
            </a:r>
            <a:r>
              <a:rPr lang="en-US" dirty="0" err="1"/>
              <a:t>клієнт-серверний</a:t>
            </a:r>
            <a:r>
              <a:rPr lang="en-US" dirty="0"/>
              <a:t> </a:t>
            </a:r>
            <a:r>
              <a:rPr lang="en-US" dirty="0" err="1"/>
              <a:t>веб-застосунок</a:t>
            </a:r>
            <a:r>
              <a:rPr lang="en-US" dirty="0"/>
              <a:t> React + Flask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інтерактивного</a:t>
            </a:r>
            <a:r>
              <a:rPr lang="en-US" dirty="0"/>
              <a:t> </a:t>
            </a:r>
            <a:r>
              <a:rPr lang="en-US" dirty="0" err="1"/>
              <a:t>порівняння</a:t>
            </a:r>
            <a:r>
              <a:rPr lang="en-US" dirty="0"/>
              <a:t> </a:t>
            </a:r>
            <a:r>
              <a:rPr lang="en-US" dirty="0" err="1"/>
              <a:t>методів</a:t>
            </a:r>
            <a:r>
              <a:rPr lang="en-US" dirty="0"/>
              <a:t> </a:t>
            </a:r>
            <a:r>
              <a:rPr lang="en-US" dirty="0" err="1"/>
              <a:t>з</a:t>
            </a:r>
            <a:r>
              <a:rPr lang="en-US" dirty="0"/>
              <a:t> </a:t>
            </a:r>
            <a:r>
              <a:rPr lang="en-US" dirty="0" err="1"/>
              <a:t>реальними</a:t>
            </a:r>
            <a:r>
              <a:rPr lang="en-US" dirty="0"/>
              <a:t> </a:t>
            </a:r>
            <a:r>
              <a:rPr lang="en-US" dirty="0" err="1"/>
              <a:t>метриками</a:t>
            </a:r>
            <a:endParaRPr lang="en-US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229374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 </a:t>
            </a:r>
            <a:endParaRPr sz="3200" dirty="0"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FCB81-E882-7465-1118-C90C7B5695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193" b="16633"/>
          <a:stretch>
            <a:fillRect/>
          </a:stretch>
        </p:blipFill>
        <p:spPr>
          <a:xfrm>
            <a:off x="1296081" y="1178021"/>
            <a:ext cx="3658626" cy="34723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B40830-8204-44D0-B413-C58DBBCE86FE}"/>
              </a:ext>
            </a:extLst>
          </p:cNvPr>
          <p:cNvSpPr txBox="1"/>
          <p:nvPr/>
        </p:nvSpPr>
        <p:spPr>
          <a:xfrm>
            <a:off x="5119613" y="1402199"/>
            <a:ext cx="34331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/>
              <a:t>Публікація прийнята і буде </a:t>
            </a:r>
            <a:r>
              <a:rPr lang="en-US" dirty="0" err="1"/>
              <a:t>опублікован</a:t>
            </a:r>
            <a:r>
              <a:rPr lang="uk-UA" dirty="0"/>
              <a:t>а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en-US" dirty="0"/>
              <a:t> </a:t>
            </a:r>
            <a:r>
              <a:rPr lang="en-US" dirty="0" err="1"/>
              <a:t>журналі</a:t>
            </a:r>
            <a:r>
              <a:rPr lang="en-US" dirty="0"/>
              <a:t> Technology Audit and Production Reserves, </a:t>
            </a:r>
            <a:r>
              <a:rPr lang="en-US" dirty="0" err="1"/>
              <a:t>який</a:t>
            </a:r>
            <a:r>
              <a:rPr lang="en-US" dirty="0"/>
              <a:t> </a:t>
            </a:r>
            <a:r>
              <a:rPr lang="en-US" dirty="0" err="1"/>
              <a:t>індексується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en-US" dirty="0"/>
              <a:t> </a:t>
            </a:r>
            <a:r>
              <a:rPr lang="en-US" dirty="0" err="1"/>
              <a:t>міжнародній</a:t>
            </a:r>
            <a:r>
              <a:rPr lang="en-US" dirty="0"/>
              <a:t> </a:t>
            </a:r>
            <a:r>
              <a:rPr lang="en-US" dirty="0" err="1"/>
              <a:t>науковій</a:t>
            </a:r>
            <a:r>
              <a:rPr lang="en-US" dirty="0"/>
              <a:t> </a:t>
            </a:r>
            <a:r>
              <a:rPr lang="en-US" dirty="0" err="1"/>
              <a:t>базі</a:t>
            </a:r>
            <a:r>
              <a:rPr lang="en-US" dirty="0"/>
              <a:t> </a:t>
            </a:r>
            <a:r>
              <a:rPr lang="en-US" dirty="0" err="1"/>
              <a:t>даних</a:t>
            </a:r>
            <a:r>
              <a:rPr lang="en-US" dirty="0"/>
              <a:t> Scopus.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Luxe</Template>
  <TotalTime>3345</TotalTime>
  <Words>1097</Words>
  <Application>Microsoft Macintosh PowerPoint</Application>
  <PresentationFormat>On-screen Show (16:9)</PresentationFormat>
  <Paragraphs>162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Open Sans</vt:lpstr>
      <vt:lpstr>Arial</vt:lpstr>
      <vt:lpstr>Economica</vt:lpstr>
      <vt:lpstr>Luxe</vt:lpstr>
      <vt:lpstr>Дослідження моделей і методів збільшення роздільної здатності зображень</vt:lpstr>
      <vt:lpstr>Актуальність</vt:lpstr>
      <vt:lpstr>Огляд літератури</vt:lpstr>
      <vt:lpstr>Постановка задачі</vt:lpstr>
      <vt:lpstr>Вибір методів</vt:lpstr>
      <vt:lpstr>Метрики якості</vt:lpstr>
      <vt:lpstr>Планування експерименту</vt:lpstr>
      <vt:lpstr>Налаштування середовища</vt:lpstr>
      <vt:lpstr>Схема проведення експерименту</vt:lpstr>
      <vt:lpstr>Порівняння ×2 масштабі</vt:lpstr>
      <vt:lpstr>Порівняння ×4 масштабі</vt:lpstr>
      <vt:lpstr>Порівняня</vt:lpstr>
      <vt:lpstr>Висновки</vt:lpstr>
      <vt:lpstr>Публікація результатів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Ольга Марченко</dc:creator>
  <cp:lastModifiedBy>Ольга Марченко</cp:lastModifiedBy>
  <cp:revision>4</cp:revision>
  <dcterms:created xsi:type="dcterms:W3CDTF">2026-05-21T18:29:06Z</dcterms:created>
  <dcterms:modified xsi:type="dcterms:W3CDTF">2026-05-24T02:14:54Z</dcterms:modified>
</cp:coreProperties>
</file>